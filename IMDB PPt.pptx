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Glacial Indifference" panose="020B0604020202020204" charset="0"/>
      <p:regular r:id="rId13"/>
    </p:embeddedFont>
    <p:embeddedFont>
      <p:font typeface="Handelson Two" panose="020B0604020202020204" charset="0"/>
      <p:regular r:id="rId14"/>
    </p:embeddedFont>
    <p:embeddedFont>
      <p:font typeface="High Cruiser" panose="020B0604020202020204" charset="0"/>
      <p:regular r:id="rId15"/>
    </p:embeddedFont>
    <p:embeddedFont>
      <p:font typeface="Poppins" panose="00000500000000000000" pitchFamily="2" charset="0"/>
      <p:regular r:id="rId16"/>
      <p:bold r:id="rId17"/>
      <p:italic r:id="rId18"/>
      <p:boldItalic r:id="rId19"/>
    </p:embeddedFont>
    <p:embeddedFont>
      <p:font typeface="Times New Roman Bold" panose="02020803070505020304" pitchFamily="18" charset="0"/>
      <p:regular r:id="rId20"/>
      <p:bold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66" d="100"/>
          <a:sy n="66" d="100"/>
        </p:scale>
        <p:origin x="62" y="-8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0012AEA-CFFE-4D39-8EF7-90602B66075D}" type="datetimeFigureOut">
              <a:rPr lang="en-US" smtClean="0"/>
              <a:t>29-Dec-25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E0C729-47D6-4973-A6D3-424991F62E15}" type="slidenum">
              <a:rPr lang="en-US" smtClean="0"/>
              <a:t>‹#›</a:t>
            </a:fld>
            <a:endParaRPr lang="en-US"/>
          </a:p>
        </p:txBody>
      </p:sp>
    </p:spTree>
    <p:extLst>
      <p:ext uri="{BB962C8B-B14F-4D97-AF65-F5344CB8AC3E}">
        <p14:creationId xmlns:p14="http://schemas.microsoft.com/office/powerpoint/2010/main" val="24672046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1E0C729-47D6-4973-A6D3-424991F62E15}" type="slidenum">
              <a:rPr lang="en-US" smtClean="0"/>
              <a:t>3</a:t>
            </a:fld>
            <a:endParaRPr lang="en-US"/>
          </a:p>
        </p:txBody>
      </p:sp>
    </p:spTree>
    <p:extLst>
      <p:ext uri="{BB962C8B-B14F-4D97-AF65-F5344CB8AC3E}">
        <p14:creationId xmlns:p14="http://schemas.microsoft.com/office/powerpoint/2010/main" val="27327811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29-Dec-25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29-Dec-25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29-Dec-25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29-Dec-25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29-Dec-25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29-Dec-25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29-Dec-25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29-Dec-25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29-Dec-25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29-Dec-25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29-Dec-25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29-Dec-25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6.svg"/></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12.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6.sv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10.sv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4.svg"/><Relationship Id="rId7" Type="http://schemas.openxmlformats.org/officeDocument/2006/relationships/image" Target="../media/image12.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6.sv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6.svg"/><Relationship Id="rId7" Type="http://schemas.openxmlformats.org/officeDocument/2006/relationships/image" Target="../media/image15.svg"/><Relationship Id="rId12" Type="http://schemas.openxmlformats.org/officeDocument/2006/relationships/image" Target="../media/image20.sv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4.svg"/><Relationship Id="rId10" Type="http://schemas.openxmlformats.org/officeDocument/2006/relationships/image" Target="../media/image18.svg"/><Relationship Id="rId4" Type="http://schemas.openxmlformats.org/officeDocument/2006/relationships/image" Target="../media/image3.png"/><Relationship Id="rId9" Type="http://schemas.openxmlformats.org/officeDocument/2006/relationships/image" Target="../media/image17.png"/></Relationships>
</file>

<file path=ppt/slides/_rels/slide8.xml.rels><?xml version="1.0" encoding="UTF-8" standalone="yes"?>
<Relationships xmlns="http://schemas.openxmlformats.org/package/2006/relationships"><Relationship Id="rId8" Type="http://schemas.openxmlformats.org/officeDocument/2006/relationships/hyperlink" Target="https://app.powerbi.com/links/5A926qG-XH?ctid=58227ec7-3bc0-48bb-ad87-42b8957dd8c6&amp;pbi_source=linkShare&amp;portalSessionId=7b69404e-2833-45d3-bb5a-def57827978a&amp;fromEntryPoint=share" TargetMode="External"/><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52D2D"/>
        </a:solidFill>
        <a:effectLst/>
      </p:bgPr>
    </p:bg>
    <p:spTree>
      <p:nvGrpSpPr>
        <p:cNvPr id="1" name=""/>
        <p:cNvGrpSpPr/>
        <p:nvPr/>
      </p:nvGrpSpPr>
      <p:grpSpPr>
        <a:xfrm>
          <a:off x="0" y="0"/>
          <a:ext cx="0" cy="0"/>
          <a:chOff x="0" y="0"/>
          <a:chExt cx="0" cy="0"/>
        </a:xfrm>
      </p:grpSpPr>
      <p:grpSp>
        <p:nvGrpSpPr>
          <p:cNvPr id="2" name="Group 2"/>
          <p:cNvGrpSpPr/>
          <p:nvPr/>
        </p:nvGrpSpPr>
        <p:grpSpPr>
          <a:xfrm rot="1938277">
            <a:off x="5913621" y="-2415270"/>
            <a:ext cx="18211072" cy="12636778"/>
            <a:chOff x="0" y="0"/>
            <a:chExt cx="1024922" cy="711200"/>
          </a:xfrm>
        </p:grpSpPr>
        <p:sp>
          <p:nvSpPr>
            <p:cNvPr id="3" name="Freeform 3"/>
            <p:cNvSpPr/>
            <p:nvPr/>
          </p:nvSpPr>
          <p:spPr>
            <a:xfrm>
              <a:off x="0" y="0"/>
              <a:ext cx="1024922" cy="711200"/>
            </a:xfrm>
            <a:custGeom>
              <a:avLst/>
              <a:gdLst/>
              <a:ahLst/>
              <a:cxnLst/>
              <a:rect l="l" t="t" r="r" b="b"/>
              <a:pathLst>
                <a:path w="1024922" h="711200">
                  <a:moveTo>
                    <a:pt x="512461" y="0"/>
                  </a:moveTo>
                  <a:lnTo>
                    <a:pt x="1024922" y="711200"/>
                  </a:lnTo>
                  <a:lnTo>
                    <a:pt x="0" y="711200"/>
                  </a:lnTo>
                  <a:lnTo>
                    <a:pt x="512461" y="0"/>
                  </a:lnTo>
                  <a:close/>
                </a:path>
              </a:pathLst>
            </a:custGeom>
            <a:gradFill rotWithShape="1">
              <a:gsLst>
                <a:gs pos="0">
                  <a:srgbClr val="FFDE59">
                    <a:alpha val="100000"/>
                  </a:srgbClr>
                </a:gs>
                <a:gs pos="100000">
                  <a:srgbClr val="FF914D">
                    <a:alpha val="100000"/>
                  </a:srgbClr>
                </a:gs>
              </a:gsLst>
              <a:lin ang="0"/>
            </a:gradFill>
          </p:spPr>
          <p:txBody>
            <a:bodyPr/>
            <a:lstStyle/>
            <a:p>
              <a:endParaRPr lang="en-US"/>
            </a:p>
          </p:txBody>
        </p:sp>
        <p:sp>
          <p:nvSpPr>
            <p:cNvPr id="4" name="TextBox 4"/>
            <p:cNvSpPr txBox="1"/>
            <p:nvPr/>
          </p:nvSpPr>
          <p:spPr>
            <a:xfrm>
              <a:off x="160144" y="273050"/>
              <a:ext cx="704634" cy="38735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5" name="Group 5"/>
          <p:cNvGrpSpPr/>
          <p:nvPr/>
        </p:nvGrpSpPr>
        <p:grpSpPr>
          <a:xfrm>
            <a:off x="-2929064" y="1138365"/>
            <a:ext cx="8467795" cy="10851026"/>
            <a:chOff x="0" y="0"/>
            <a:chExt cx="2230201" cy="2857883"/>
          </a:xfrm>
        </p:grpSpPr>
        <p:sp>
          <p:nvSpPr>
            <p:cNvPr id="6" name="Freeform 6"/>
            <p:cNvSpPr/>
            <p:nvPr/>
          </p:nvSpPr>
          <p:spPr>
            <a:xfrm>
              <a:off x="0" y="0"/>
              <a:ext cx="2230201" cy="2857883"/>
            </a:xfrm>
            <a:custGeom>
              <a:avLst/>
              <a:gdLst/>
              <a:ahLst/>
              <a:cxnLst/>
              <a:rect l="l" t="t" r="r" b="b"/>
              <a:pathLst>
                <a:path w="2230201" h="2857883">
                  <a:moveTo>
                    <a:pt x="0" y="0"/>
                  </a:moveTo>
                  <a:lnTo>
                    <a:pt x="2230201" y="0"/>
                  </a:lnTo>
                  <a:lnTo>
                    <a:pt x="2230201" y="2857883"/>
                  </a:lnTo>
                  <a:lnTo>
                    <a:pt x="0" y="2857883"/>
                  </a:lnTo>
                  <a:close/>
                </a:path>
              </a:pathLst>
            </a:custGeom>
            <a:solidFill>
              <a:srgbClr val="D52D2D"/>
            </a:solidFill>
          </p:spPr>
          <p:txBody>
            <a:bodyPr/>
            <a:lstStyle/>
            <a:p>
              <a:endParaRPr lang="en-US"/>
            </a:p>
          </p:txBody>
        </p:sp>
        <p:sp>
          <p:nvSpPr>
            <p:cNvPr id="7" name="TextBox 7"/>
            <p:cNvSpPr txBox="1"/>
            <p:nvPr/>
          </p:nvSpPr>
          <p:spPr>
            <a:xfrm>
              <a:off x="0" y="-57150"/>
              <a:ext cx="2230201" cy="2915033"/>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158061" y="1813313"/>
            <a:ext cx="5696792" cy="10993810"/>
          </a:xfrm>
          <a:custGeom>
            <a:avLst/>
            <a:gdLst/>
            <a:ahLst/>
            <a:cxnLst/>
            <a:rect l="l" t="t" r="r" b="b"/>
            <a:pathLst>
              <a:path w="5696792" h="10993810">
                <a:moveTo>
                  <a:pt x="0" y="0"/>
                </a:moveTo>
                <a:lnTo>
                  <a:pt x="5696792" y="0"/>
                </a:lnTo>
                <a:lnTo>
                  <a:pt x="5696792" y="10993810"/>
                </a:lnTo>
                <a:lnTo>
                  <a:pt x="0" y="1099381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Freeform 9"/>
          <p:cNvSpPr/>
          <p:nvPr/>
        </p:nvSpPr>
        <p:spPr>
          <a:xfrm rot="4206900">
            <a:off x="1259459" y="-3310671"/>
            <a:ext cx="3132908" cy="7590746"/>
          </a:xfrm>
          <a:custGeom>
            <a:avLst/>
            <a:gdLst/>
            <a:ahLst/>
            <a:cxnLst/>
            <a:rect l="l" t="t" r="r" b="b"/>
            <a:pathLst>
              <a:path w="3132908" h="7590746">
                <a:moveTo>
                  <a:pt x="0" y="0"/>
                </a:moveTo>
                <a:lnTo>
                  <a:pt x="3132908" y="0"/>
                </a:lnTo>
                <a:lnTo>
                  <a:pt x="3132908" y="7590746"/>
                </a:lnTo>
                <a:lnTo>
                  <a:pt x="0" y="759074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0" name="Freeform 10"/>
          <p:cNvSpPr/>
          <p:nvPr/>
        </p:nvSpPr>
        <p:spPr>
          <a:xfrm>
            <a:off x="10166498" y="2003468"/>
            <a:ext cx="10837113" cy="10324813"/>
          </a:xfrm>
          <a:custGeom>
            <a:avLst/>
            <a:gdLst/>
            <a:ahLst/>
            <a:cxnLst/>
            <a:rect l="l" t="t" r="r" b="b"/>
            <a:pathLst>
              <a:path w="10837113" h="10324813">
                <a:moveTo>
                  <a:pt x="0" y="0"/>
                </a:moveTo>
                <a:lnTo>
                  <a:pt x="10837113" y="0"/>
                </a:lnTo>
                <a:lnTo>
                  <a:pt x="10837113" y="10324813"/>
                </a:lnTo>
                <a:lnTo>
                  <a:pt x="0" y="1032481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grpSp>
        <p:nvGrpSpPr>
          <p:cNvPr id="11" name="Group 11"/>
          <p:cNvGrpSpPr/>
          <p:nvPr/>
        </p:nvGrpSpPr>
        <p:grpSpPr>
          <a:xfrm>
            <a:off x="8047789" y="558843"/>
            <a:ext cx="10952641" cy="5922465"/>
            <a:chOff x="0" y="0"/>
            <a:chExt cx="14603521" cy="7896621"/>
          </a:xfrm>
        </p:grpSpPr>
        <p:sp>
          <p:nvSpPr>
            <p:cNvPr id="12" name="TextBox 12"/>
            <p:cNvSpPr txBox="1"/>
            <p:nvPr/>
          </p:nvSpPr>
          <p:spPr>
            <a:xfrm rot="-571860">
              <a:off x="380239" y="1173994"/>
              <a:ext cx="13854083" cy="5614388"/>
            </a:xfrm>
            <a:prstGeom prst="rect">
              <a:avLst/>
            </a:prstGeom>
          </p:spPr>
          <p:txBody>
            <a:bodyPr lIns="0" tIns="0" rIns="0" bIns="0" rtlCol="0" anchor="t">
              <a:spAutoFit/>
            </a:bodyPr>
            <a:lstStyle/>
            <a:p>
              <a:pPr algn="ctr">
                <a:lnSpc>
                  <a:spcPts val="8191"/>
                </a:lnSpc>
              </a:pPr>
              <a:r>
                <a:rPr lang="en-US" sz="7514" spc="112" dirty="0">
                  <a:solidFill>
                    <a:srgbClr val="15789A"/>
                  </a:solidFill>
                  <a:latin typeface="Handelson Two"/>
                  <a:ea typeface="Handelson Two"/>
                  <a:cs typeface="Handelson Two"/>
                  <a:sym typeface="Handelson Two"/>
                </a:rPr>
                <a:t>Power BI Project </a:t>
              </a:r>
            </a:p>
            <a:p>
              <a:pPr algn="ctr">
                <a:lnSpc>
                  <a:spcPts val="8191"/>
                </a:lnSpc>
              </a:pPr>
              <a:r>
                <a:rPr lang="en-US" sz="7514" spc="112" dirty="0">
                  <a:solidFill>
                    <a:srgbClr val="15789A"/>
                  </a:solidFill>
                  <a:latin typeface="Handelson Two"/>
                  <a:ea typeface="Handelson Two"/>
                  <a:cs typeface="Handelson Two"/>
                  <a:sym typeface="Handelson Two"/>
                </a:rPr>
                <a:t>on</a:t>
              </a:r>
            </a:p>
            <a:p>
              <a:pPr algn="ctr">
                <a:lnSpc>
                  <a:spcPts val="8191"/>
                </a:lnSpc>
              </a:pPr>
              <a:endParaRPr lang="en-US" sz="7514" spc="112" dirty="0">
                <a:solidFill>
                  <a:srgbClr val="15789A"/>
                </a:solidFill>
                <a:latin typeface="Handelson Two"/>
                <a:ea typeface="Handelson Two"/>
                <a:cs typeface="Handelson Two"/>
                <a:sym typeface="Handelson Two"/>
              </a:endParaRPr>
            </a:p>
            <a:p>
              <a:pPr algn="ctr">
                <a:lnSpc>
                  <a:spcPts val="8191"/>
                </a:lnSpc>
              </a:pPr>
              <a:endParaRPr lang="en-US" sz="7514" spc="112" dirty="0">
                <a:solidFill>
                  <a:srgbClr val="15789A"/>
                </a:solidFill>
                <a:latin typeface="Handelson Two"/>
                <a:ea typeface="Handelson Two"/>
                <a:cs typeface="Handelson Two"/>
                <a:sym typeface="Handelson Two"/>
              </a:endParaRPr>
            </a:p>
          </p:txBody>
        </p:sp>
        <p:sp>
          <p:nvSpPr>
            <p:cNvPr id="13" name="TextBox 13"/>
            <p:cNvSpPr txBox="1"/>
            <p:nvPr/>
          </p:nvSpPr>
          <p:spPr>
            <a:xfrm rot="-571860">
              <a:off x="643935" y="3977231"/>
              <a:ext cx="13325112" cy="1143561"/>
            </a:xfrm>
            <a:prstGeom prst="rect">
              <a:avLst/>
            </a:prstGeom>
          </p:spPr>
          <p:txBody>
            <a:bodyPr lIns="0" tIns="0" rIns="0" bIns="0" rtlCol="0" anchor="t">
              <a:spAutoFit/>
            </a:bodyPr>
            <a:lstStyle/>
            <a:p>
              <a:pPr algn="ctr">
                <a:lnSpc>
                  <a:spcPts val="6447"/>
                </a:lnSpc>
              </a:pPr>
              <a:r>
                <a:rPr lang="en-US" sz="5915" spc="-177" dirty="0">
                  <a:solidFill>
                    <a:srgbClr val="F85001"/>
                  </a:solidFill>
                  <a:latin typeface="Handelson Two"/>
                  <a:ea typeface="Handelson Two"/>
                  <a:cs typeface="Handelson Two"/>
                  <a:sym typeface="Handelson Two"/>
                </a:rPr>
                <a:t>IMDB MOVIE DATA ANALYSIS</a:t>
              </a:r>
            </a:p>
          </p:txBody>
        </p:sp>
      </p:grpSp>
      <p:sp>
        <p:nvSpPr>
          <p:cNvPr id="14" name="TextBox 14"/>
          <p:cNvSpPr txBox="1"/>
          <p:nvPr/>
        </p:nvSpPr>
        <p:spPr>
          <a:xfrm>
            <a:off x="11867875" y="5344143"/>
            <a:ext cx="6302563" cy="571203"/>
          </a:xfrm>
          <a:prstGeom prst="rect">
            <a:avLst/>
          </a:prstGeom>
        </p:spPr>
        <p:txBody>
          <a:bodyPr lIns="0" tIns="0" rIns="0" bIns="0" rtlCol="0" anchor="t">
            <a:spAutoFit/>
          </a:bodyPr>
          <a:lstStyle/>
          <a:p>
            <a:pPr algn="ctr">
              <a:lnSpc>
                <a:spcPts val="2469"/>
              </a:lnSpc>
            </a:pPr>
            <a:r>
              <a:rPr lang="en-US" sz="2743">
                <a:solidFill>
                  <a:srgbClr val="161616"/>
                </a:solidFill>
                <a:latin typeface="Glacial Indifference"/>
                <a:ea typeface="Glacial Indifference"/>
                <a:cs typeface="Glacial Indifference"/>
                <a:sym typeface="Glacial Indifference"/>
              </a:rPr>
              <a:t>Presented By- Nilkanth Adhav</a:t>
            </a:r>
          </a:p>
          <a:p>
            <a:pPr algn="ctr">
              <a:lnSpc>
                <a:spcPts val="2016"/>
              </a:lnSpc>
            </a:pPr>
            <a:endParaRPr lang="en-US" sz="2743">
              <a:solidFill>
                <a:srgbClr val="161616"/>
              </a:solidFill>
              <a:latin typeface="Glacial Indifference"/>
              <a:ea typeface="Glacial Indifference"/>
              <a:cs typeface="Glacial Indifference"/>
              <a:sym typeface="Glacial Indifference"/>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D52D2D"/>
        </a:solidFill>
        <a:effectLst/>
      </p:bgPr>
    </p:bg>
    <p:spTree>
      <p:nvGrpSpPr>
        <p:cNvPr id="1" name=""/>
        <p:cNvGrpSpPr/>
        <p:nvPr/>
      </p:nvGrpSpPr>
      <p:grpSpPr>
        <a:xfrm>
          <a:off x="0" y="0"/>
          <a:ext cx="0" cy="0"/>
          <a:chOff x="0" y="0"/>
          <a:chExt cx="0" cy="0"/>
        </a:xfrm>
      </p:grpSpPr>
      <p:grpSp>
        <p:nvGrpSpPr>
          <p:cNvPr id="2" name="Group 2"/>
          <p:cNvGrpSpPr/>
          <p:nvPr/>
        </p:nvGrpSpPr>
        <p:grpSpPr>
          <a:xfrm rot="9976659">
            <a:off x="-5928010" y="1563886"/>
            <a:ext cx="28163977" cy="15983985"/>
            <a:chOff x="0" y="0"/>
            <a:chExt cx="1409000" cy="799654"/>
          </a:xfrm>
        </p:grpSpPr>
        <p:sp>
          <p:nvSpPr>
            <p:cNvPr id="3" name="Freeform 3"/>
            <p:cNvSpPr/>
            <p:nvPr/>
          </p:nvSpPr>
          <p:spPr>
            <a:xfrm>
              <a:off x="0" y="0"/>
              <a:ext cx="1409000" cy="799654"/>
            </a:xfrm>
            <a:custGeom>
              <a:avLst/>
              <a:gdLst/>
              <a:ahLst/>
              <a:cxnLst/>
              <a:rect l="l" t="t" r="r" b="b"/>
              <a:pathLst>
                <a:path w="1409000" h="799654">
                  <a:moveTo>
                    <a:pt x="704500" y="0"/>
                  </a:moveTo>
                  <a:lnTo>
                    <a:pt x="1409000" y="799654"/>
                  </a:lnTo>
                  <a:lnTo>
                    <a:pt x="0" y="799654"/>
                  </a:lnTo>
                  <a:lnTo>
                    <a:pt x="704500" y="0"/>
                  </a:lnTo>
                  <a:close/>
                </a:path>
              </a:pathLst>
            </a:custGeom>
            <a:gradFill rotWithShape="1">
              <a:gsLst>
                <a:gs pos="0">
                  <a:srgbClr val="FFDE59">
                    <a:alpha val="100000"/>
                  </a:srgbClr>
                </a:gs>
                <a:gs pos="100000">
                  <a:srgbClr val="FF914D">
                    <a:alpha val="100000"/>
                  </a:srgbClr>
                </a:gs>
              </a:gsLst>
              <a:lin ang="0"/>
            </a:gradFill>
          </p:spPr>
          <p:txBody>
            <a:bodyPr/>
            <a:lstStyle/>
            <a:p>
              <a:endParaRPr lang="en-US"/>
            </a:p>
          </p:txBody>
        </p:sp>
        <p:sp>
          <p:nvSpPr>
            <p:cNvPr id="4" name="TextBox 4"/>
            <p:cNvSpPr txBox="1"/>
            <p:nvPr/>
          </p:nvSpPr>
          <p:spPr>
            <a:xfrm>
              <a:off x="220156" y="314118"/>
              <a:ext cx="968687" cy="428418"/>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rot="7106552">
            <a:off x="15692846" y="-2926745"/>
            <a:ext cx="3132908" cy="7590746"/>
          </a:xfrm>
          <a:custGeom>
            <a:avLst/>
            <a:gdLst/>
            <a:ahLst/>
            <a:cxnLst/>
            <a:rect l="l" t="t" r="r" b="b"/>
            <a:pathLst>
              <a:path w="3132908" h="7590746">
                <a:moveTo>
                  <a:pt x="0" y="0"/>
                </a:moveTo>
                <a:lnTo>
                  <a:pt x="3132908" y="0"/>
                </a:lnTo>
                <a:lnTo>
                  <a:pt x="3132908" y="7590746"/>
                </a:lnTo>
                <a:lnTo>
                  <a:pt x="0" y="759074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Freeform 6"/>
          <p:cNvSpPr/>
          <p:nvPr/>
        </p:nvSpPr>
        <p:spPr>
          <a:xfrm flipH="1">
            <a:off x="-4296936" y="264874"/>
            <a:ext cx="12560317" cy="11966557"/>
          </a:xfrm>
          <a:custGeom>
            <a:avLst/>
            <a:gdLst/>
            <a:ahLst/>
            <a:cxnLst/>
            <a:rect l="l" t="t" r="r" b="b"/>
            <a:pathLst>
              <a:path w="12560317" h="11966557">
                <a:moveTo>
                  <a:pt x="12560317" y="0"/>
                </a:moveTo>
                <a:lnTo>
                  <a:pt x="0" y="0"/>
                </a:lnTo>
                <a:lnTo>
                  <a:pt x="0" y="11966557"/>
                </a:lnTo>
                <a:lnTo>
                  <a:pt x="12560317" y="11966557"/>
                </a:lnTo>
                <a:lnTo>
                  <a:pt x="12560317"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7" name="Freeform 7"/>
          <p:cNvSpPr/>
          <p:nvPr/>
        </p:nvSpPr>
        <p:spPr>
          <a:xfrm rot="1222511" flipH="1">
            <a:off x="14476342" y="5915970"/>
            <a:ext cx="4011072" cy="3434936"/>
          </a:xfrm>
          <a:custGeom>
            <a:avLst/>
            <a:gdLst/>
            <a:ahLst/>
            <a:cxnLst/>
            <a:rect l="l" t="t" r="r" b="b"/>
            <a:pathLst>
              <a:path w="4011072" h="3434936">
                <a:moveTo>
                  <a:pt x="4011071" y="0"/>
                </a:moveTo>
                <a:lnTo>
                  <a:pt x="0" y="0"/>
                </a:lnTo>
                <a:lnTo>
                  <a:pt x="0" y="3434936"/>
                </a:lnTo>
                <a:lnTo>
                  <a:pt x="4011071" y="3434936"/>
                </a:lnTo>
                <a:lnTo>
                  <a:pt x="4011071"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8" name="Freeform 8"/>
          <p:cNvSpPr/>
          <p:nvPr/>
        </p:nvSpPr>
        <p:spPr>
          <a:xfrm>
            <a:off x="-3057827" y="-2021949"/>
            <a:ext cx="8173055" cy="7786692"/>
          </a:xfrm>
          <a:custGeom>
            <a:avLst/>
            <a:gdLst/>
            <a:ahLst/>
            <a:cxnLst/>
            <a:rect l="l" t="t" r="r" b="b"/>
            <a:pathLst>
              <a:path w="8173055" h="7786692">
                <a:moveTo>
                  <a:pt x="0" y="0"/>
                </a:moveTo>
                <a:lnTo>
                  <a:pt x="8173054" y="0"/>
                </a:lnTo>
                <a:lnTo>
                  <a:pt x="8173054" y="7786692"/>
                </a:lnTo>
                <a:lnTo>
                  <a:pt x="0" y="778669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0" name="TextBox 10"/>
          <p:cNvSpPr txBox="1"/>
          <p:nvPr/>
        </p:nvSpPr>
        <p:spPr>
          <a:xfrm>
            <a:off x="5238688" y="87669"/>
            <a:ext cx="3024693" cy="1216005"/>
          </a:xfrm>
          <a:prstGeom prst="rect">
            <a:avLst/>
          </a:prstGeom>
        </p:spPr>
        <p:txBody>
          <a:bodyPr lIns="0" tIns="0" rIns="0" bIns="0" rtlCol="0" anchor="t">
            <a:spAutoFit/>
          </a:bodyPr>
          <a:lstStyle/>
          <a:p>
            <a:pPr algn="r">
              <a:lnSpc>
                <a:spcPts val="9904"/>
              </a:lnSpc>
              <a:spcBef>
                <a:spcPct val="0"/>
              </a:spcBef>
            </a:pPr>
            <a:r>
              <a:rPr lang="en-US" sz="7074" dirty="0">
                <a:solidFill>
                  <a:srgbClr val="000000"/>
                </a:solidFill>
                <a:latin typeface="Glacial Indifference"/>
                <a:ea typeface="Glacial Indifference"/>
                <a:cs typeface="Glacial Indifference"/>
                <a:sym typeface="Glacial Indifference"/>
              </a:rPr>
              <a:t>INDEX</a:t>
            </a:r>
          </a:p>
        </p:txBody>
      </p:sp>
      <p:grpSp>
        <p:nvGrpSpPr>
          <p:cNvPr id="29" name="Group 28">
            <a:extLst>
              <a:ext uri="{FF2B5EF4-FFF2-40B4-BE49-F238E27FC236}">
                <a16:creationId xmlns:a16="http://schemas.microsoft.com/office/drawing/2014/main" id="{66496BB8-B71B-B767-6A8E-C50DBB09252A}"/>
              </a:ext>
            </a:extLst>
          </p:cNvPr>
          <p:cNvGrpSpPr/>
          <p:nvPr/>
        </p:nvGrpSpPr>
        <p:grpSpPr>
          <a:xfrm>
            <a:off x="6179185" y="1750110"/>
            <a:ext cx="12108815" cy="6336817"/>
            <a:chOff x="152400" y="3449409"/>
            <a:chExt cx="12108815" cy="6336817"/>
          </a:xfrm>
        </p:grpSpPr>
        <p:sp>
          <p:nvSpPr>
            <p:cNvPr id="17" name="Google Shape;138;p17">
              <a:extLst>
                <a:ext uri="{FF2B5EF4-FFF2-40B4-BE49-F238E27FC236}">
                  <a16:creationId xmlns:a16="http://schemas.microsoft.com/office/drawing/2014/main" id="{08B9EF2B-DEB5-F245-C4B1-01B178010F60}"/>
                </a:ext>
              </a:extLst>
            </p:cNvPr>
            <p:cNvSpPr txBox="1"/>
            <p:nvPr/>
          </p:nvSpPr>
          <p:spPr>
            <a:xfrm>
              <a:off x="152400" y="3449409"/>
              <a:ext cx="7995300" cy="1034129"/>
            </a:xfrm>
            <a:prstGeom prst="rect">
              <a:avLst/>
            </a:prstGeom>
            <a:noFill/>
            <a:ln>
              <a:noFill/>
            </a:ln>
          </p:spPr>
          <p:txBody>
            <a:bodyPr spcFirstLastPara="1" wrap="square" lIns="0" tIns="0" rIns="0" bIns="0" anchor="t" anchorCtr="0">
              <a:spAutoFit/>
            </a:bodyPr>
            <a:lstStyle/>
            <a:p>
              <a:pPr lvl="0" algn="ctr">
                <a:lnSpc>
                  <a:spcPct val="139977"/>
                </a:lnSpc>
              </a:pPr>
              <a:r>
                <a:rPr lang="en-US" sz="4800" b="1" dirty="0">
                  <a:latin typeface="Times New Roman Bold"/>
                  <a:ea typeface="Times New Roman Bold"/>
                  <a:cs typeface="Times New Roman Bold"/>
                  <a:sym typeface="Times New Roman Bold"/>
                </a:rPr>
                <a:t>Objective</a:t>
              </a:r>
              <a:endParaRPr dirty="0">
                <a:latin typeface="Poppins"/>
                <a:ea typeface="Poppins"/>
                <a:cs typeface="Poppins"/>
                <a:sym typeface="Poppins"/>
              </a:endParaRPr>
            </a:p>
          </p:txBody>
        </p:sp>
        <p:sp>
          <p:nvSpPr>
            <p:cNvPr id="18" name="Google Shape;139;p17">
              <a:extLst>
                <a:ext uri="{FF2B5EF4-FFF2-40B4-BE49-F238E27FC236}">
                  <a16:creationId xmlns:a16="http://schemas.microsoft.com/office/drawing/2014/main" id="{9F9BE7CB-4D4C-A9CF-05C4-61AABDC21A25}"/>
                </a:ext>
              </a:extLst>
            </p:cNvPr>
            <p:cNvSpPr txBox="1"/>
            <p:nvPr/>
          </p:nvSpPr>
          <p:spPr>
            <a:xfrm>
              <a:off x="277170" y="5036982"/>
              <a:ext cx="7995300" cy="359073"/>
            </a:xfrm>
            <a:prstGeom prst="rect">
              <a:avLst/>
            </a:prstGeom>
            <a:noFill/>
            <a:ln>
              <a:noFill/>
            </a:ln>
          </p:spPr>
          <p:txBody>
            <a:bodyPr spcFirstLastPara="1" wrap="square" lIns="0" tIns="0" rIns="0" bIns="0" anchor="t" anchorCtr="0">
              <a:spAutoFit/>
            </a:bodyPr>
            <a:lstStyle/>
            <a:p>
              <a:pPr algn="ctr">
                <a:lnSpc>
                  <a:spcPts val="2799"/>
                </a:lnSpc>
                <a:defRPr/>
              </a:pPr>
              <a:r>
                <a:rPr lang="en-US" sz="4800" b="1" kern="1200" dirty="0">
                  <a:latin typeface="Times New Roman Bold"/>
                  <a:ea typeface="Times New Roman Bold"/>
                  <a:cs typeface="Times New Roman Bold"/>
                  <a:sym typeface="Times New Roman Bold"/>
                </a:rPr>
                <a:t>Business Approach</a:t>
              </a:r>
              <a:endParaRPr lang="en-US" sz="4800" b="1" kern="1200" dirty="0">
                <a:latin typeface="Times New Roman Bold"/>
                <a:cs typeface="Times New Roman Bold"/>
              </a:endParaRPr>
            </a:p>
          </p:txBody>
        </p:sp>
        <p:sp>
          <p:nvSpPr>
            <p:cNvPr id="19" name="Google Shape;140;p17">
              <a:extLst>
                <a:ext uri="{FF2B5EF4-FFF2-40B4-BE49-F238E27FC236}">
                  <a16:creationId xmlns:a16="http://schemas.microsoft.com/office/drawing/2014/main" id="{A6F1FC3E-A51C-63C4-2D0E-4821D7798765}"/>
                </a:ext>
              </a:extLst>
            </p:cNvPr>
            <p:cNvSpPr txBox="1"/>
            <p:nvPr/>
          </p:nvSpPr>
          <p:spPr>
            <a:xfrm>
              <a:off x="546100" y="6228403"/>
              <a:ext cx="7449200" cy="359073"/>
            </a:xfrm>
            <a:prstGeom prst="rect">
              <a:avLst/>
            </a:prstGeom>
            <a:noFill/>
            <a:ln>
              <a:noFill/>
            </a:ln>
          </p:spPr>
          <p:txBody>
            <a:bodyPr spcFirstLastPara="1" wrap="square" lIns="0" tIns="0" rIns="0" bIns="0" anchor="t" anchorCtr="0">
              <a:spAutoFit/>
            </a:bodyPr>
            <a:lstStyle/>
            <a:p>
              <a:pPr algn="ctr">
                <a:lnSpc>
                  <a:spcPts val="2799"/>
                </a:lnSpc>
                <a:defRPr/>
              </a:pPr>
              <a:r>
                <a:rPr lang="en-US" sz="4800" b="1" kern="1200" dirty="0">
                  <a:latin typeface="Times New Roman Bold"/>
                  <a:ea typeface="Times New Roman Bold"/>
                  <a:cs typeface="Times New Roman Bold"/>
                  <a:sym typeface="Times New Roman Bold"/>
                </a:rPr>
                <a:t>Model View</a:t>
              </a:r>
              <a:endParaRPr lang="en-US" sz="4800" b="1" kern="1200" dirty="0">
                <a:latin typeface="Times New Roman Bold"/>
                <a:cs typeface="Times New Roman Bold"/>
              </a:endParaRPr>
            </a:p>
          </p:txBody>
        </p:sp>
        <p:sp>
          <p:nvSpPr>
            <p:cNvPr id="20" name="Google Shape;141;p17">
              <a:extLst>
                <a:ext uri="{FF2B5EF4-FFF2-40B4-BE49-F238E27FC236}">
                  <a16:creationId xmlns:a16="http://schemas.microsoft.com/office/drawing/2014/main" id="{E1B72282-BC6E-5F29-5DDF-03072E531181}"/>
                </a:ext>
              </a:extLst>
            </p:cNvPr>
            <p:cNvSpPr txBox="1"/>
            <p:nvPr/>
          </p:nvSpPr>
          <p:spPr>
            <a:xfrm>
              <a:off x="546100" y="7355065"/>
              <a:ext cx="7449200" cy="359073"/>
            </a:xfrm>
            <a:prstGeom prst="rect">
              <a:avLst/>
            </a:prstGeom>
            <a:noFill/>
            <a:ln>
              <a:noFill/>
            </a:ln>
          </p:spPr>
          <p:txBody>
            <a:bodyPr spcFirstLastPara="1" wrap="square" lIns="0" tIns="0" rIns="0" bIns="0" anchor="t" anchorCtr="0">
              <a:spAutoFit/>
            </a:bodyPr>
            <a:lstStyle/>
            <a:p>
              <a:pPr algn="ctr">
                <a:lnSpc>
                  <a:spcPts val="2799"/>
                </a:lnSpc>
                <a:defRPr/>
              </a:pPr>
              <a:r>
                <a:rPr lang="en-US" sz="4800" b="1" kern="1200" dirty="0">
                  <a:latin typeface="Times New Roman Bold"/>
                  <a:ea typeface="Times New Roman Bold"/>
                  <a:cs typeface="Times New Roman Bold"/>
                  <a:sym typeface="Times New Roman Bold"/>
                </a:rPr>
                <a:t>Key Visuals</a:t>
              </a:r>
              <a:endParaRPr lang="en-US" sz="4800" b="1" kern="1200" dirty="0">
                <a:latin typeface="Times New Roman Bold"/>
                <a:cs typeface="Times New Roman Bold"/>
              </a:endParaRPr>
            </a:p>
          </p:txBody>
        </p:sp>
        <p:cxnSp>
          <p:nvCxnSpPr>
            <p:cNvPr id="21" name="Google Shape;142;p17">
              <a:extLst>
                <a:ext uri="{FF2B5EF4-FFF2-40B4-BE49-F238E27FC236}">
                  <a16:creationId xmlns:a16="http://schemas.microsoft.com/office/drawing/2014/main" id="{FA6F604E-F14F-FAB1-8872-132AB77C57CF}"/>
                </a:ext>
              </a:extLst>
            </p:cNvPr>
            <p:cNvCxnSpPr/>
            <p:nvPr/>
          </p:nvCxnSpPr>
          <p:spPr>
            <a:xfrm>
              <a:off x="1028700" y="4554538"/>
              <a:ext cx="6492240" cy="0"/>
            </a:xfrm>
            <a:prstGeom prst="straightConnector1">
              <a:avLst/>
            </a:prstGeom>
            <a:noFill/>
            <a:ln w="19050" cap="flat" cmpd="sng">
              <a:solidFill>
                <a:srgbClr val="FFFDFC"/>
              </a:solidFill>
              <a:prstDash val="solid"/>
              <a:round/>
              <a:headEnd type="none" w="sm" len="sm"/>
              <a:tailEnd type="none" w="sm" len="sm"/>
            </a:ln>
          </p:spPr>
        </p:cxnSp>
        <p:cxnSp>
          <p:nvCxnSpPr>
            <p:cNvPr id="22" name="Google Shape;143;p17">
              <a:extLst>
                <a:ext uri="{FF2B5EF4-FFF2-40B4-BE49-F238E27FC236}">
                  <a16:creationId xmlns:a16="http://schemas.microsoft.com/office/drawing/2014/main" id="{667A003E-AB12-7CD4-EE1C-F601FE579F55}"/>
                </a:ext>
              </a:extLst>
            </p:cNvPr>
            <p:cNvCxnSpPr/>
            <p:nvPr/>
          </p:nvCxnSpPr>
          <p:spPr>
            <a:xfrm>
              <a:off x="1028700" y="5674957"/>
              <a:ext cx="6492240" cy="0"/>
            </a:xfrm>
            <a:prstGeom prst="straightConnector1">
              <a:avLst/>
            </a:prstGeom>
            <a:noFill/>
            <a:ln w="19050" cap="flat" cmpd="sng">
              <a:solidFill>
                <a:srgbClr val="FFFDFC"/>
              </a:solidFill>
              <a:prstDash val="solid"/>
              <a:round/>
              <a:headEnd type="none" w="sm" len="sm"/>
              <a:tailEnd type="none" w="sm" len="sm"/>
            </a:ln>
          </p:spPr>
        </p:cxnSp>
        <p:cxnSp>
          <p:nvCxnSpPr>
            <p:cNvPr id="23" name="Google Shape;144;p17">
              <a:extLst>
                <a:ext uri="{FF2B5EF4-FFF2-40B4-BE49-F238E27FC236}">
                  <a16:creationId xmlns:a16="http://schemas.microsoft.com/office/drawing/2014/main" id="{9E6002CE-5164-5274-7446-AC8C718B3265}"/>
                </a:ext>
              </a:extLst>
            </p:cNvPr>
            <p:cNvCxnSpPr/>
            <p:nvPr/>
          </p:nvCxnSpPr>
          <p:spPr>
            <a:xfrm>
              <a:off x="1028700" y="6786207"/>
              <a:ext cx="6492240" cy="0"/>
            </a:xfrm>
            <a:prstGeom prst="straightConnector1">
              <a:avLst/>
            </a:prstGeom>
            <a:noFill/>
            <a:ln w="19050" cap="flat" cmpd="sng">
              <a:solidFill>
                <a:srgbClr val="FFFDFC"/>
              </a:solidFill>
              <a:prstDash val="solid"/>
              <a:round/>
              <a:headEnd type="none" w="sm" len="sm"/>
              <a:tailEnd type="none" w="sm" len="sm"/>
            </a:ln>
          </p:spPr>
        </p:cxnSp>
        <p:cxnSp>
          <p:nvCxnSpPr>
            <p:cNvPr id="24" name="Google Shape;145;p17">
              <a:extLst>
                <a:ext uri="{FF2B5EF4-FFF2-40B4-BE49-F238E27FC236}">
                  <a16:creationId xmlns:a16="http://schemas.microsoft.com/office/drawing/2014/main" id="{9A2C51C3-22E6-8509-A1D5-233C71454D73}"/>
                </a:ext>
              </a:extLst>
            </p:cNvPr>
            <p:cNvCxnSpPr/>
            <p:nvPr/>
          </p:nvCxnSpPr>
          <p:spPr>
            <a:xfrm>
              <a:off x="1028700" y="7957426"/>
              <a:ext cx="6492240" cy="0"/>
            </a:xfrm>
            <a:prstGeom prst="straightConnector1">
              <a:avLst/>
            </a:prstGeom>
            <a:noFill/>
            <a:ln w="19050" cap="flat" cmpd="sng">
              <a:solidFill>
                <a:srgbClr val="FFFDFC"/>
              </a:solidFill>
              <a:prstDash val="solid"/>
              <a:round/>
              <a:headEnd type="none" w="sm" len="sm"/>
              <a:tailEnd type="none" w="sm" len="sm"/>
            </a:ln>
          </p:spPr>
        </p:cxnSp>
        <p:cxnSp>
          <p:nvCxnSpPr>
            <p:cNvPr id="25" name="Google Shape;145;p17">
              <a:extLst>
                <a:ext uri="{FF2B5EF4-FFF2-40B4-BE49-F238E27FC236}">
                  <a16:creationId xmlns:a16="http://schemas.microsoft.com/office/drawing/2014/main" id="{D6E9C75A-0BA6-C97D-0841-CFEC5F3F3ECB}"/>
                </a:ext>
              </a:extLst>
            </p:cNvPr>
            <p:cNvCxnSpPr/>
            <p:nvPr/>
          </p:nvCxnSpPr>
          <p:spPr>
            <a:xfrm>
              <a:off x="1168400" y="9786226"/>
              <a:ext cx="6492240" cy="0"/>
            </a:xfrm>
            <a:prstGeom prst="straightConnector1">
              <a:avLst/>
            </a:prstGeom>
            <a:noFill/>
            <a:ln w="19050" cap="flat" cmpd="sng">
              <a:solidFill>
                <a:srgbClr val="FFFDFC"/>
              </a:solidFill>
              <a:prstDash val="solid"/>
              <a:round/>
              <a:headEnd type="none" w="sm" len="sm"/>
              <a:tailEnd type="none" w="sm" len="sm"/>
            </a:ln>
          </p:spPr>
        </p:cxnSp>
        <p:cxnSp>
          <p:nvCxnSpPr>
            <p:cNvPr id="26" name="Google Shape;145;p17">
              <a:extLst>
                <a:ext uri="{FF2B5EF4-FFF2-40B4-BE49-F238E27FC236}">
                  <a16:creationId xmlns:a16="http://schemas.microsoft.com/office/drawing/2014/main" id="{63A05B24-3DF5-63CF-0600-E917B1EF08D7}"/>
                </a:ext>
              </a:extLst>
            </p:cNvPr>
            <p:cNvCxnSpPr/>
            <p:nvPr/>
          </p:nvCxnSpPr>
          <p:spPr>
            <a:xfrm>
              <a:off x="1028700" y="8821026"/>
              <a:ext cx="6492240" cy="0"/>
            </a:xfrm>
            <a:prstGeom prst="straightConnector1">
              <a:avLst/>
            </a:prstGeom>
            <a:noFill/>
            <a:ln w="19050" cap="flat" cmpd="sng">
              <a:solidFill>
                <a:srgbClr val="FFFDFC"/>
              </a:solidFill>
              <a:prstDash val="solid"/>
              <a:round/>
              <a:headEnd type="none" w="sm" len="sm"/>
              <a:tailEnd type="none" w="sm" len="sm"/>
            </a:ln>
          </p:spPr>
        </p:cxnSp>
        <p:sp>
          <p:nvSpPr>
            <p:cNvPr id="27" name="TextBox 26">
              <a:extLst>
                <a:ext uri="{FF2B5EF4-FFF2-40B4-BE49-F238E27FC236}">
                  <a16:creationId xmlns:a16="http://schemas.microsoft.com/office/drawing/2014/main" id="{003A5A27-5FA6-3B42-93BF-B5D15EE7E355}"/>
                </a:ext>
              </a:extLst>
            </p:cNvPr>
            <p:cNvSpPr txBox="1"/>
            <p:nvPr/>
          </p:nvSpPr>
          <p:spPr>
            <a:xfrm>
              <a:off x="546100" y="8228773"/>
              <a:ext cx="7618094" cy="505908"/>
            </a:xfrm>
            <a:prstGeom prst="rect">
              <a:avLst/>
            </a:prstGeom>
            <a:noFill/>
          </p:spPr>
          <p:txBody>
            <a:bodyPr wrap="square">
              <a:spAutoFit/>
            </a:bodyPr>
            <a:lstStyle/>
            <a:p>
              <a:pPr algn="ctr">
                <a:lnSpc>
                  <a:spcPts val="2799"/>
                </a:lnSpc>
                <a:defRPr/>
              </a:pPr>
              <a:r>
                <a:rPr lang="en-US" sz="4800" b="1" kern="1200" dirty="0">
                  <a:latin typeface="Times New Roman Bold"/>
                  <a:cs typeface="Times New Roman Bold"/>
                  <a:sym typeface="Times New Roman Bold"/>
                </a:rPr>
                <a:t>Link to Dashboard</a:t>
              </a:r>
              <a:endParaRPr lang="en-US" sz="4800" b="1" kern="1200" dirty="0">
                <a:latin typeface="Times New Roman Bold"/>
                <a:cs typeface="Times New Roman Bold"/>
              </a:endParaRPr>
            </a:p>
          </p:txBody>
        </p:sp>
        <p:sp>
          <p:nvSpPr>
            <p:cNvPr id="28" name="TextBox 27">
              <a:extLst>
                <a:ext uri="{FF2B5EF4-FFF2-40B4-BE49-F238E27FC236}">
                  <a16:creationId xmlns:a16="http://schemas.microsoft.com/office/drawing/2014/main" id="{366EAD32-FC73-E60C-9D1B-81B382CD75C2}"/>
                </a:ext>
              </a:extLst>
            </p:cNvPr>
            <p:cNvSpPr txBox="1"/>
            <p:nvPr/>
          </p:nvSpPr>
          <p:spPr>
            <a:xfrm>
              <a:off x="2348865" y="8922625"/>
              <a:ext cx="9912350" cy="830997"/>
            </a:xfrm>
            <a:prstGeom prst="rect">
              <a:avLst/>
            </a:prstGeom>
            <a:noFill/>
          </p:spPr>
          <p:txBody>
            <a:bodyPr wrap="square">
              <a:spAutoFit/>
            </a:bodyPr>
            <a:lstStyle/>
            <a:p>
              <a:r>
                <a:rPr lang="en-US" sz="4800" b="1" kern="1200" dirty="0">
                  <a:latin typeface="Times New Roman Bold"/>
                  <a:cs typeface="Times New Roman Bold"/>
                  <a:sym typeface="Times New Roman Bold"/>
                </a:rPr>
                <a:t>Conclusion</a:t>
              </a:r>
              <a:endParaRPr lang="en-US" sz="4800" b="1" kern="1200" dirty="0">
                <a:latin typeface="Times New Roman Bold"/>
                <a:cs typeface="Times New Roman Bold"/>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D52D2D"/>
        </a:solidFill>
        <a:effectLst/>
      </p:bgPr>
    </p:bg>
    <p:spTree>
      <p:nvGrpSpPr>
        <p:cNvPr id="1" name=""/>
        <p:cNvGrpSpPr/>
        <p:nvPr/>
      </p:nvGrpSpPr>
      <p:grpSpPr>
        <a:xfrm>
          <a:off x="0" y="0"/>
          <a:ext cx="0" cy="0"/>
          <a:chOff x="0" y="0"/>
          <a:chExt cx="0" cy="0"/>
        </a:xfrm>
      </p:grpSpPr>
      <p:grpSp>
        <p:nvGrpSpPr>
          <p:cNvPr id="2" name="Group 2"/>
          <p:cNvGrpSpPr/>
          <p:nvPr/>
        </p:nvGrpSpPr>
        <p:grpSpPr>
          <a:xfrm rot="4271176">
            <a:off x="84798" y="-2369165"/>
            <a:ext cx="28163977" cy="22035903"/>
            <a:chOff x="0" y="0"/>
            <a:chExt cx="1409000" cy="1102422"/>
          </a:xfrm>
        </p:grpSpPr>
        <p:sp>
          <p:nvSpPr>
            <p:cNvPr id="3" name="Freeform 3"/>
            <p:cNvSpPr/>
            <p:nvPr/>
          </p:nvSpPr>
          <p:spPr>
            <a:xfrm>
              <a:off x="0" y="0"/>
              <a:ext cx="1409000" cy="1102422"/>
            </a:xfrm>
            <a:custGeom>
              <a:avLst/>
              <a:gdLst/>
              <a:ahLst/>
              <a:cxnLst/>
              <a:rect l="l" t="t" r="r" b="b"/>
              <a:pathLst>
                <a:path w="1409000" h="1102422">
                  <a:moveTo>
                    <a:pt x="704500" y="0"/>
                  </a:moveTo>
                  <a:lnTo>
                    <a:pt x="1409000" y="1102422"/>
                  </a:lnTo>
                  <a:lnTo>
                    <a:pt x="0" y="1102422"/>
                  </a:lnTo>
                  <a:lnTo>
                    <a:pt x="704500" y="0"/>
                  </a:lnTo>
                  <a:close/>
                </a:path>
              </a:pathLst>
            </a:custGeom>
            <a:gradFill rotWithShape="1">
              <a:gsLst>
                <a:gs pos="0">
                  <a:srgbClr val="FFDE59">
                    <a:alpha val="100000"/>
                  </a:srgbClr>
                </a:gs>
                <a:gs pos="100000">
                  <a:srgbClr val="FF914D">
                    <a:alpha val="100000"/>
                  </a:srgbClr>
                </a:gs>
              </a:gsLst>
              <a:lin ang="0"/>
            </a:gradFill>
          </p:spPr>
          <p:txBody>
            <a:bodyPr/>
            <a:lstStyle/>
            <a:p>
              <a:endParaRPr lang="en-US"/>
            </a:p>
          </p:txBody>
        </p:sp>
        <p:sp>
          <p:nvSpPr>
            <p:cNvPr id="4" name="TextBox 4"/>
            <p:cNvSpPr txBox="1"/>
            <p:nvPr/>
          </p:nvSpPr>
          <p:spPr>
            <a:xfrm>
              <a:off x="220156" y="454689"/>
              <a:ext cx="968687" cy="568989"/>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flipH="1">
            <a:off x="10286760" y="-3798358"/>
            <a:ext cx="13215682" cy="12590940"/>
          </a:xfrm>
          <a:custGeom>
            <a:avLst/>
            <a:gdLst/>
            <a:ahLst/>
            <a:cxnLst/>
            <a:rect l="l" t="t" r="r" b="b"/>
            <a:pathLst>
              <a:path w="13215682" h="12590940">
                <a:moveTo>
                  <a:pt x="13215681" y="0"/>
                </a:moveTo>
                <a:lnTo>
                  <a:pt x="0" y="0"/>
                </a:lnTo>
                <a:lnTo>
                  <a:pt x="0" y="12590940"/>
                </a:lnTo>
                <a:lnTo>
                  <a:pt x="13215681" y="12590940"/>
                </a:lnTo>
                <a:lnTo>
                  <a:pt x="13215681"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Freeform 6"/>
          <p:cNvSpPr/>
          <p:nvPr/>
        </p:nvSpPr>
        <p:spPr>
          <a:xfrm rot="7106552">
            <a:off x="526203" y="5442360"/>
            <a:ext cx="3555050" cy="8613557"/>
          </a:xfrm>
          <a:custGeom>
            <a:avLst/>
            <a:gdLst/>
            <a:ahLst/>
            <a:cxnLst/>
            <a:rect l="l" t="t" r="r" b="b"/>
            <a:pathLst>
              <a:path w="3555050" h="8613557">
                <a:moveTo>
                  <a:pt x="0" y="0"/>
                </a:moveTo>
                <a:lnTo>
                  <a:pt x="3555049" y="0"/>
                </a:lnTo>
                <a:lnTo>
                  <a:pt x="3555049" y="8613557"/>
                </a:lnTo>
                <a:lnTo>
                  <a:pt x="0" y="861355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7" name="TextBox 7"/>
          <p:cNvSpPr txBox="1"/>
          <p:nvPr/>
        </p:nvSpPr>
        <p:spPr>
          <a:xfrm>
            <a:off x="2080466" y="2916279"/>
            <a:ext cx="10912126" cy="4378242"/>
          </a:xfrm>
          <a:prstGeom prst="rect">
            <a:avLst/>
          </a:prstGeom>
        </p:spPr>
        <p:txBody>
          <a:bodyPr lIns="0" tIns="0" rIns="0" bIns="0" rtlCol="0" anchor="t">
            <a:spAutoFit/>
          </a:bodyPr>
          <a:lstStyle/>
          <a:p>
            <a:pPr algn="l">
              <a:lnSpc>
                <a:spcPts val="3854"/>
              </a:lnSpc>
              <a:spcBef>
                <a:spcPct val="0"/>
              </a:spcBef>
            </a:pPr>
            <a:r>
              <a:rPr lang="en-US" sz="2753" b="1" dirty="0">
                <a:solidFill>
                  <a:srgbClr val="000000"/>
                </a:solidFill>
                <a:latin typeface="Times New Roman Bold"/>
                <a:ea typeface="Times New Roman Bold"/>
                <a:cs typeface="Times New Roman Bold"/>
                <a:sym typeface="Times New Roman Bold"/>
              </a:rPr>
              <a:t>IMDb, the Internet Movie Database, is the world's largest and most reliable source for movie, TV, and celebrity content. Founded in 1990 and now owned by Amazon, IMDb serves over 250 million monthly visitors worldwide. The platform features detailed information on more than 12 million titles and 14 million cast and crew members, along with user ratings, reviews, and industry insights. For our analysis today, IMDb's extensive database provides valuable data points that help us understand audience preferences, industry trends, and content performance metrics.</a:t>
            </a:r>
          </a:p>
        </p:txBody>
      </p:sp>
      <p:sp>
        <p:nvSpPr>
          <p:cNvPr id="8" name="Freeform 8"/>
          <p:cNvSpPr/>
          <p:nvPr/>
        </p:nvSpPr>
        <p:spPr>
          <a:xfrm>
            <a:off x="7980421" y="2962830"/>
            <a:ext cx="13215682" cy="12590940"/>
          </a:xfrm>
          <a:custGeom>
            <a:avLst/>
            <a:gdLst/>
            <a:ahLst/>
            <a:cxnLst/>
            <a:rect l="l" t="t" r="r" b="b"/>
            <a:pathLst>
              <a:path w="13215682" h="12590940">
                <a:moveTo>
                  <a:pt x="0" y="0"/>
                </a:moveTo>
                <a:lnTo>
                  <a:pt x="13215682" y="0"/>
                </a:lnTo>
                <a:lnTo>
                  <a:pt x="13215682" y="12590940"/>
                </a:lnTo>
                <a:lnTo>
                  <a:pt x="0" y="1259094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9" name="Freeform 9"/>
          <p:cNvSpPr/>
          <p:nvPr/>
        </p:nvSpPr>
        <p:spPr>
          <a:xfrm>
            <a:off x="13889511" y="3201082"/>
            <a:ext cx="7671762" cy="7085918"/>
          </a:xfrm>
          <a:custGeom>
            <a:avLst/>
            <a:gdLst/>
            <a:ahLst/>
            <a:cxnLst/>
            <a:rect l="l" t="t" r="r" b="b"/>
            <a:pathLst>
              <a:path w="7671762" h="7085918">
                <a:moveTo>
                  <a:pt x="0" y="0"/>
                </a:moveTo>
                <a:lnTo>
                  <a:pt x="7671761" y="0"/>
                </a:lnTo>
                <a:lnTo>
                  <a:pt x="7671761" y="7085918"/>
                </a:lnTo>
                <a:lnTo>
                  <a:pt x="0" y="708591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10" name="TextBox 10"/>
          <p:cNvSpPr txBox="1"/>
          <p:nvPr/>
        </p:nvSpPr>
        <p:spPr>
          <a:xfrm>
            <a:off x="688637" y="1101164"/>
            <a:ext cx="5692558" cy="1111112"/>
          </a:xfrm>
          <a:prstGeom prst="rect">
            <a:avLst/>
          </a:prstGeom>
        </p:spPr>
        <p:txBody>
          <a:bodyPr lIns="0" tIns="0" rIns="0" bIns="0" rtlCol="0" anchor="t">
            <a:spAutoFit/>
          </a:bodyPr>
          <a:lstStyle/>
          <a:p>
            <a:pPr algn="l">
              <a:lnSpc>
                <a:spcPts val="9111"/>
              </a:lnSpc>
              <a:spcBef>
                <a:spcPct val="0"/>
              </a:spcBef>
            </a:pPr>
            <a:r>
              <a:rPr lang="en-US" sz="6508">
                <a:solidFill>
                  <a:srgbClr val="000000"/>
                </a:solidFill>
                <a:latin typeface="High Cruiser"/>
                <a:ea typeface="High Cruiser"/>
                <a:cs typeface="High Cruiser"/>
                <a:sym typeface="High Cruiser"/>
              </a:rPr>
              <a:t>Introduction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D52D2D"/>
        </a:solidFill>
        <a:effectLst/>
      </p:bgPr>
    </p:bg>
    <p:spTree>
      <p:nvGrpSpPr>
        <p:cNvPr id="1" name=""/>
        <p:cNvGrpSpPr/>
        <p:nvPr/>
      </p:nvGrpSpPr>
      <p:grpSpPr>
        <a:xfrm>
          <a:off x="0" y="0"/>
          <a:ext cx="0" cy="0"/>
          <a:chOff x="0" y="0"/>
          <a:chExt cx="0" cy="0"/>
        </a:xfrm>
      </p:grpSpPr>
      <p:grpSp>
        <p:nvGrpSpPr>
          <p:cNvPr id="2" name="Group 2"/>
          <p:cNvGrpSpPr/>
          <p:nvPr/>
        </p:nvGrpSpPr>
        <p:grpSpPr>
          <a:xfrm rot="9976659">
            <a:off x="-5928010" y="1563886"/>
            <a:ext cx="28163977" cy="15983985"/>
            <a:chOff x="0" y="0"/>
            <a:chExt cx="1409000" cy="799654"/>
          </a:xfrm>
        </p:grpSpPr>
        <p:sp>
          <p:nvSpPr>
            <p:cNvPr id="3" name="Freeform 3"/>
            <p:cNvSpPr/>
            <p:nvPr/>
          </p:nvSpPr>
          <p:spPr>
            <a:xfrm>
              <a:off x="0" y="0"/>
              <a:ext cx="1409000" cy="799654"/>
            </a:xfrm>
            <a:custGeom>
              <a:avLst/>
              <a:gdLst/>
              <a:ahLst/>
              <a:cxnLst/>
              <a:rect l="l" t="t" r="r" b="b"/>
              <a:pathLst>
                <a:path w="1409000" h="799654">
                  <a:moveTo>
                    <a:pt x="704500" y="0"/>
                  </a:moveTo>
                  <a:lnTo>
                    <a:pt x="1409000" y="799654"/>
                  </a:lnTo>
                  <a:lnTo>
                    <a:pt x="0" y="799654"/>
                  </a:lnTo>
                  <a:lnTo>
                    <a:pt x="704500" y="0"/>
                  </a:lnTo>
                  <a:close/>
                </a:path>
              </a:pathLst>
            </a:custGeom>
            <a:gradFill rotWithShape="1">
              <a:gsLst>
                <a:gs pos="0">
                  <a:srgbClr val="FFDE59">
                    <a:alpha val="100000"/>
                  </a:srgbClr>
                </a:gs>
                <a:gs pos="100000">
                  <a:srgbClr val="FF914D">
                    <a:alpha val="100000"/>
                  </a:srgbClr>
                </a:gs>
              </a:gsLst>
              <a:lin ang="0"/>
            </a:gradFill>
          </p:spPr>
          <p:txBody>
            <a:bodyPr/>
            <a:lstStyle/>
            <a:p>
              <a:endParaRPr lang="en-US"/>
            </a:p>
          </p:txBody>
        </p:sp>
        <p:sp>
          <p:nvSpPr>
            <p:cNvPr id="4" name="TextBox 4"/>
            <p:cNvSpPr txBox="1"/>
            <p:nvPr/>
          </p:nvSpPr>
          <p:spPr>
            <a:xfrm>
              <a:off x="220156" y="314118"/>
              <a:ext cx="968687" cy="428418"/>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rot="7106552">
            <a:off x="15692846" y="-2926745"/>
            <a:ext cx="3132908" cy="7590746"/>
          </a:xfrm>
          <a:custGeom>
            <a:avLst/>
            <a:gdLst/>
            <a:ahLst/>
            <a:cxnLst/>
            <a:rect l="l" t="t" r="r" b="b"/>
            <a:pathLst>
              <a:path w="3132908" h="7590746">
                <a:moveTo>
                  <a:pt x="0" y="0"/>
                </a:moveTo>
                <a:lnTo>
                  <a:pt x="3132908" y="0"/>
                </a:lnTo>
                <a:lnTo>
                  <a:pt x="3132908" y="7590746"/>
                </a:lnTo>
                <a:lnTo>
                  <a:pt x="0" y="759074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Freeform 6"/>
          <p:cNvSpPr/>
          <p:nvPr/>
        </p:nvSpPr>
        <p:spPr>
          <a:xfrm flipH="1">
            <a:off x="-4296936" y="264874"/>
            <a:ext cx="12560317" cy="11966557"/>
          </a:xfrm>
          <a:custGeom>
            <a:avLst/>
            <a:gdLst/>
            <a:ahLst/>
            <a:cxnLst/>
            <a:rect l="l" t="t" r="r" b="b"/>
            <a:pathLst>
              <a:path w="12560317" h="11966557">
                <a:moveTo>
                  <a:pt x="12560317" y="0"/>
                </a:moveTo>
                <a:lnTo>
                  <a:pt x="0" y="0"/>
                </a:lnTo>
                <a:lnTo>
                  <a:pt x="0" y="11966557"/>
                </a:lnTo>
                <a:lnTo>
                  <a:pt x="12560317" y="11966557"/>
                </a:lnTo>
                <a:lnTo>
                  <a:pt x="12560317"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7" name="TextBox 7"/>
          <p:cNvSpPr txBox="1"/>
          <p:nvPr/>
        </p:nvSpPr>
        <p:spPr>
          <a:xfrm>
            <a:off x="3473156" y="2119185"/>
            <a:ext cx="15217542" cy="4304030"/>
          </a:xfrm>
          <a:prstGeom prst="rect">
            <a:avLst/>
          </a:prstGeom>
        </p:spPr>
        <p:txBody>
          <a:bodyPr lIns="0" tIns="0" rIns="0" bIns="0" rtlCol="0" anchor="t">
            <a:spAutoFit/>
          </a:bodyPr>
          <a:lstStyle/>
          <a:p>
            <a:pPr marL="582932" lvl="1" indent="-291466" algn="l">
              <a:lnSpc>
                <a:spcPts val="6750"/>
              </a:lnSpc>
              <a:buFont typeface="Arial"/>
              <a:buChar char="•"/>
            </a:pPr>
            <a:r>
              <a:rPr lang="en-US" sz="2700" b="1" dirty="0">
                <a:solidFill>
                  <a:srgbClr val="000000"/>
                </a:solidFill>
                <a:latin typeface="Times New Roman Bold"/>
                <a:ea typeface="Times New Roman Bold"/>
                <a:cs typeface="Times New Roman Bold"/>
                <a:sym typeface="Times New Roman Bold"/>
              </a:rPr>
              <a:t>Track movie trends: production, ratings, revenue, and genres over the past decade</a:t>
            </a:r>
          </a:p>
          <a:p>
            <a:pPr marL="582932" lvl="1" indent="-291466" algn="l">
              <a:lnSpc>
                <a:spcPts val="6750"/>
              </a:lnSpc>
              <a:buFont typeface="Arial"/>
              <a:buChar char="•"/>
            </a:pPr>
            <a:r>
              <a:rPr lang="en-US" sz="2700" b="1" dirty="0">
                <a:solidFill>
                  <a:srgbClr val="000000"/>
                </a:solidFill>
                <a:latin typeface="Times New Roman Bold"/>
                <a:ea typeface="Times New Roman Bold"/>
                <a:cs typeface="Times New Roman Bold"/>
                <a:sym typeface="Times New Roman Bold"/>
              </a:rPr>
              <a:t>Create an interactive dashboard for easy data exploration</a:t>
            </a:r>
          </a:p>
          <a:p>
            <a:pPr marL="582932" lvl="1" indent="-291466" algn="l">
              <a:lnSpc>
                <a:spcPts val="6750"/>
              </a:lnSpc>
              <a:buFont typeface="Arial"/>
              <a:buChar char="•"/>
            </a:pPr>
            <a:r>
              <a:rPr lang="en-US" sz="2700" b="1" dirty="0">
                <a:solidFill>
                  <a:srgbClr val="000000"/>
                </a:solidFill>
                <a:latin typeface="Times New Roman Bold"/>
                <a:ea typeface="Times New Roman Bold"/>
                <a:cs typeface="Times New Roman Bold"/>
                <a:sym typeface="Times New Roman Bold"/>
              </a:rPr>
              <a:t>Identify what makes movies successful</a:t>
            </a:r>
          </a:p>
          <a:p>
            <a:pPr marL="582932" lvl="1" indent="-291466" algn="l">
              <a:lnSpc>
                <a:spcPts val="6750"/>
              </a:lnSpc>
              <a:buFont typeface="Arial"/>
              <a:buChar char="•"/>
            </a:pPr>
            <a:r>
              <a:rPr lang="en-US" sz="2700" b="1" dirty="0">
                <a:solidFill>
                  <a:srgbClr val="000000"/>
                </a:solidFill>
                <a:latin typeface="Times New Roman Bold"/>
                <a:ea typeface="Times New Roman Bold"/>
                <a:cs typeface="Times New Roman Bold"/>
                <a:sym typeface="Times New Roman Bold"/>
              </a:rPr>
              <a:t>Provide insights for filmmakers and industry stakeholders to boost audience engagement</a:t>
            </a:r>
          </a:p>
          <a:p>
            <a:pPr algn="l">
              <a:lnSpc>
                <a:spcPts val="7999"/>
              </a:lnSpc>
            </a:pPr>
            <a:endParaRPr lang="en-US" sz="2700" b="1" dirty="0">
              <a:solidFill>
                <a:srgbClr val="000000"/>
              </a:solidFill>
              <a:latin typeface="Times New Roman Bold"/>
              <a:ea typeface="Times New Roman Bold"/>
              <a:cs typeface="Times New Roman Bold"/>
              <a:sym typeface="Times New Roman Bold"/>
            </a:endParaRPr>
          </a:p>
        </p:txBody>
      </p:sp>
      <p:sp>
        <p:nvSpPr>
          <p:cNvPr id="8" name="Freeform 8"/>
          <p:cNvSpPr/>
          <p:nvPr/>
        </p:nvSpPr>
        <p:spPr>
          <a:xfrm rot="-1067245">
            <a:off x="13365447" y="5934014"/>
            <a:ext cx="6076697" cy="5759401"/>
          </a:xfrm>
          <a:custGeom>
            <a:avLst/>
            <a:gdLst/>
            <a:ahLst/>
            <a:cxnLst/>
            <a:rect l="l" t="t" r="r" b="b"/>
            <a:pathLst>
              <a:path w="6076697" h="5759401">
                <a:moveTo>
                  <a:pt x="0" y="0"/>
                </a:moveTo>
                <a:lnTo>
                  <a:pt x="6076697" y="0"/>
                </a:lnTo>
                <a:lnTo>
                  <a:pt x="6076697" y="5759402"/>
                </a:lnTo>
                <a:lnTo>
                  <a:pt x="0" y="575940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9" name="TextBox 9"/>
          <p:cNvSpPr txBox="1"/>
          <p:nvPr/>
        </p:nvSpPr>
        <p:spPr>
          <a:xfrm>
            <a:off x="4889272" y="141049"/>
            <a:ext cx="4254728" cy="2220735"/>
          </a:xfrm>
          <a:prstGeom prst="rect">
            <a:avLst/>
          </a:prstGeom>
        </p:spPr>
        <p:txBody>
          <a:bodyPr lIns="0" tIns="0" rIns="0" bIns="0" rtlCol="0" anchor="t">
            <a:spAutoFit/>
          </a:bodyPr>
          <a:lstStyle/>
          <a:p>
            <a:pPr algn="r">
              <a:lnSpc>
                <a:spcPts val="8924"/>
              </a:lnSpc>
            </a:pPr>
            <a:r>
              <a:rPr lang="en-US" sz="6374" dirty="0">
                <a:solidFill>
                  <a:srgbClr val="000000"/>
                </a:solidFill>
                <a:latin typeface="High Cruiser"/>
                <a:ea typeface="High Cruiser"/>
                <a:cs typeface="High Cruiser"/>
                <a:sym typeface="High Cruiser"/>
              </a:rPr>
              <a:t>Objective</a:t>
            </a:r>
          </a:p>
          <a:p>
            <a:pPr algn="r">
              <a:lnSpc>
                <a:spcPts val="8924"/>
              </a:lnSpc>
              <a:spcBef>
                <a:spcPct val="0"/>
              </a:spcBef>
            </a:pPr>
            <a:endParaRPr lang="en-US" sz="6374" dirty="0">
              <a:solidFill>
                <a:srgbClr val="000000"/>
              </a:solidFill>
              <a:latin typeface="High Cruiser"/>
              <a:ea typeface="High Cruiser"/>
              <a:cs typeface="High Cruiser"/>
              <a:sym typeface="High Cruiser"/>
            </a:endParaRPr>
          </a:p>
        </p:txBody>
      </p:sp>
      <p:sp>
        <p:nvSpPr>
          <p:cNvPr id="10" name="Freeform 10"/>
          <p:cNvSpPr/>
          <p:nvPr/>
        </p:nvSpPr>
        <p:spPr>
          <a:xfrm>
            <a:off x="-3057827" y="-2021949"/>
            <a:ext cx="8173055" cy="7786692"/>
          </a:xfrm>
          <a:custGeom>
            <a:avLst/>
            <a:gdLst/>
            <a:ahLst/>
            <a:cxnLst/>
            <a:rect l="l" t="t" r="r" b="b"/>
            <a:pathLst>
              <a:path w="8173055" h="7786692">
                <a:moveTo>
                  <a:pt x="0" y="0"/>
                </a:moveTo>
                <a:lnTo>
                  <a:pt x="8173054" y="0"/>
                </a:lnTo>
                <a:lnTo>
                  <a:pt x="8173054" y="7786692"/>
                </a:lnTo>
                <a:lnTo>
                  <a:pt x="0" y="778669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D52D2D"/>
        </a:solidFill>
        <a:effectLst/>
      </p:bgPr>
    </p:bg>
    <p:spTree>
      <p:nvGrpSpPr>
        <p:cNvPr id="1" name=""/>
        <p:cNvGrpSpPr/>
        <p:nvPr/>
      </p:nvGrpSpPr>
      <p:grpSpPr>
        <a:xfrm>
          <a:off x="0" y="0"/>
          <a:ext cx="0" cy="0"/>
          <a:chOff x="0" y="0"/>
          <a:chExt cx="0" cy="0"/>
        </a:xfrm>
      </p:grpSpPr>
      <p:grpSp>
        <p:nvGrpSpPr>
          <p:cNvPr id="2" name="Group 2"/>
          <p:cNvGrpSpPr/>
          <p:nvPr/>
        </p:nvGrpSpPr>
        <p:grpSpPr>
          <a:xfrm rot="7264426">
            <a:off x="5968195" y="-2355093"/>
            <a:ext cx="20637504" cy="30565871"/>
            <a:chOff x="0" y="0"/>
            <a:chExt cx="812800" cy="1203825"/>
          </a:xfrm>
        </p:grpSpPr>
        <p:sp>
          <p:nvSpPr>
            <p:cNvPr id="3" name="Freeform 3"/>
            <p:cNvSpPr/>
            <p:nvPr/>
          </p:nvSpPr>
          <p:spPr>
            <a:xfrm>
              <a:off x="0" y="0"/>
              <a:ext cx="812800" cy="1203825"/>
            </a:xfrm>
            <a:custGeom>
              <a:avLst/>
              <a:gdLst/>
              <a:ahLst/>
              <a:cxnLst/>
              <a:rect l="l" t="t" r="r" b="b"/>
              <a:pathLst>
                <a:path w="812800" h="1203825">
                  <a:moveTo>
                    <a:pt x="406400" y="0"/>
                  </a:moveTo>
                  <a:lnTo>
                    <a:pt x="812800" y="1203825"/>
                  </a:lnTo>
                  <a:lnTo>
                    <a:pt x="0" y="1203825"/>
                  </a:lnTo>
                  <a:lnTo>
                    <a:pt x="406400" y="0"/>
                  </a:lnTo>
                  <a:close/>
                </a:path>
              </a:pathLst>
            </a:custGeom>
            <a:gradFill rotWithShape="1">
              <a:gsLst>
                <a:gs pos="0">
                  <a:srgbClr val="FFDE59">
                    <a:alpha val="100000"/>
                  </a:srgbClr>
                </a:gs>
                <a:gs pos="100000">
                  <a:srgbClr val="FF914D">
                    <a:alpha val="100000"/>
                  </a:srgbClr>
                </a:gs>
              </a:gsLst>
              <a:lin ang="0"/>
            </a:gradFill>
          </p:spPr>
          <p:txBody>
            <a:bodyPr/>
            <a:lstStyle/>
            <a:p>
              <a:endParaRPr lang="en-US"/>
            </a:p>
          </p:txBody>
        </p:sp>
        <p:sp>
          <p:nvSpPr>
            <p:cNvPr id="4" name="TextBox 4"/>
            <p:cNvSpPr txBox="1"/>
            <p:nvPr/>
          </p:nvSpPr>
          <p:spPr>
            <a:xfrm>
              <a:off x="127000" y="501769"/>
              <a:ext cx="558800" cy="616069"/>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flipH="1">
            <a:off x="-2932756" y="2990755"/>
            <a:ext cx="13215682" cy="12590940"/>
          </a:xfrm>
          <a:custGeom>
            <a:avLst/>
            <a:gdLst/>
            <a:ahLst/>
            <a:cxnLst/>
            <a:rect l="l" t="t" r="r" b="b"/>
            <a:pathLst>
              <a:path w="13215682" h="12590940">
                <a:moveTo>
                  <a:pt x="13215681" y="0"/>
                </a:moveTo>
                <a:lnTo>
                  <a:pt x="0" y="0"/>
                </a:lnTo>
                <a:lnTo>
                  <a:pt x="0" y="12590941"/>
                </a:lnTo>
                <a:lnTo>
                  <a:pt x="13215681" y="12590941"/>
                </a:lnTo>
                <a:lnTo>
                  <a:pt x="13215681"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TextBox 6"/>
          <p:cNvSpPr txBox="1"/>
          <p:nvPr/>
        </p:nvSpPr>
        <p:spPr>
          <a:xfrm>
            <a:off x="5027309" y="1909472"/>
            <a:ext cx="10777722" cy="6401381"/>
          </a:xfrm>
          <a:prstGeom prst="rect">
            <a:avLst/>
          </a:prstGeom>
        </p:spPr>
        <p:txBody>
          <a:bodyPr lIns="0" tIns="0" rIns="0" bIns="0" rtlCol="0" anchor="t">
            <a:spAutoFit/>
          </a:bodyPr>
          <a:lstStyle/>
          <a:p>
            <a:pPr algn="l">
              <a:lnSpc>
                <a:spcPts val="3642"/>
              </a:lnSpc>
            </a:pPr>
            <a:r>
              <a:rPr lang="en-US" sz="2602" b="1" dirty="0">
                <a:solidFill>
                  <a:srgbClr val="000000"/>
                </a:solidFill>
                <a:latin typeface="Times New Roman Bold"/>
                <a:ea typeface="Times New Roman Bold"/>
                <a:cs typeface="Times New Roman Bold"/>
                <a:sym typeface="Times New Roman Bold"/>
              </a:rPr>
              <a:t>Dataset Used :</a:t>
            </a:r>
            <a:r>
              <a:rPr lang="en-US" sz="2602" dirty="0">
                <a:solidFill>
                  <a:srgbClr val="000000"/>
                </a:solidFill>
                <a:latin typeface="Times New Roman"/>
                <a:ea typeface="Times New Roman"/>
                <a:cs typeface="Times New Roman"/>
                <a:sym typeface="Times New Roman"/>
              </a:rPr>
              <a:t> IMDb Movie Data (12 columns and 1000 rows)</a:t>
            </a:r>
          </a:p>
          <a:p>
            <a:pPr algn="l">
              <a:lnSpc>
                <a:spcPts val="3642"/>
              </a:lnSpc>
            </a:pPr>
            <a:endParaRPr lang="en-US" sz="2602" dirty="0">
              <a:solidFill>
                <a:srgbClr val="000000"/>
              </a:solidFill>
              <a:latin typeface="Times New Roman"/>
              <a:ea typeface="Times New Roman"/>
              <a:cs typeface="Times New Roman"/>
              <a:sym typeface="Times New Roman"/>
            </a:endParaRPr>
          </a:p>
          <a:p>
            <a:pPr algn="l">
              <a:lnSpc>
                <a:spcPts val="3642"/>
              </a:lnSpc>
            </a:pPr>
            <a:r>
              <a:rPr lang="en-US" sz="2602" b="1" dirty="0">
                <a:solidFill>
                  <a:srgbClr val="000000"/>
                </a:solidFill>
                <a:latin typeface="Times New Roman Bold"/>
                <a:ea typeface="Times New Roman Bold"/>
                <a:cs typeface="Times New Roman Bold"/>
                <a:sym typeface="Times New Roman Bold"/>
              </a:rPr>
              <a:t>Steps Taken:</a:t>
            </a:r>
          </a:p>
          <a:p>
            <a:pPr algn="l">
              <a:lnSpc>
                <a:spcPts val="3642"/>
              </a:lnSpc>
            </a:pPr>
            <a:r>
              <a:rPr lang="en-US" sz="2602" dirty="0">
                <a:solidFill>
                  <a:srgbClr val="000000"/>
                </a:solidFill>
                <a:latin typeface="Times New Roman"/>
                <a:ea typeface="Times New Roman"/>
                <a:cs typeface="Times New Roman"/>
                <a:sym typeface="Times New Roman"/>
              </a:rPr>
              <a:t>•Imported the dataset into Power BI.</a:t>
            </a:r>
          </a:p>
          <a:p>
            <a:pPr algn="l">
              <a:lnSpc>
                <a:spcPts val="3642"/>
              </a:lnSpc>
            </a:pPr>
            <a:r>
              <a:rPr lang="en-US" sz="2602" dirty="0">
                <a:solidFill>
                  <a:srgbClr val="000000"/>
                </a:solidFill>
                <a:latin typeface="Times New Roman"/>
                <a:ea typeface="Times New Roman"/>
                <a:cs typeface="Times New Roman"/>
                <a:sym typeface="Times New Roman"/>
              </a:rPr>
              <a:t>•Removed missing, duplicated, and inconsistent records</a:t>
            </a:r>
          </a:p>
          <a:p>
            <a:pPr algn="l">
              <a:lnSpc>
                <a:spcPts val="3642"/>
              </a:lnSpc>
            </a:pPr>
            <a:r>
              <a:rPr lang="en-US" sz="2602" dirty="0">
                <a:solidFill>
                  <a:srgbClr val="000000"/>
                </a:solidFill>
                <a:latin typeface="Times New Roman"/>
                <a:ea typeface="Times New Roman"/>
                <a:cs typeface="Times New Roman"/>
                <a:sym typeface="Times New Roman"/>
              </a:rPr>
              <a:t>•Split Genre column</a:t>
            </a:r>
          </a:p>
          <a:p>
            <a:pPr algn="l">
              <a:lnSpc>
                <a:spcPts val="3642"/>
              </a:lnSpc>
            </a:pPr>
            <a:r>
              <a:rPr lang="en-US" sz="2602" dirty="0">
                <a:solidFill>
                  <a:srgbClr val="000000"/>
                </a:solidFill>
                <a:latin typeface="Times New Roman"/>
                <a:ea typeface="Times New Roman"/>
                <a:cs typeface="Times New Roman"/>
                <a:sym typeface="Times New Roman"/>
              </a:rPr>
              <a:t>•Build relationship in model view</a:t>
            </a:r>
          </a:p>
          <a:p>
            <a:pPr algn="l">
              <a:lnSpc>
                <a:spcPts val="3642"/>
              </a:lnSpc>
            </a:pPr>
            <a:endParaRPr lang="en-US" sz="2602" dirty="0">
              <a:solidFill>
                <a:srgbClr val="000000"/>
              </a:solidFill>
              <a:latin typeface="Times New Roman"/>
              <a:ea typeface="Times New Roman"/>
              <a:cs typeface="Times New Roman"/>
              <a:sym typeface="Times New Roman"/>
            </a:endParaRPr>
          </a:p>
          <a:p>
            <a:pPr algn="l">
              <a:lnSpc>
                <a:spcPts val="3642"/>
              </a:lnSpc>
            </a:pPr>
            <a:r>
              <a:rPr lang="en-US" sz="2602" b="1" dirty="0">
                <a:solidFill>
                  <a:srgbClr val="000000"/>
                </a:solidFill>
                <a:latin typeface="Times New Roman Bold"/>
                <a:ea typeface="Times New Roman Bold"/>
                <a:cs typeface="Times New Roman Bold"/>
                <a:sym typeface="Times New Roman Bold"/>
              </a:rPr>
              <a:t>Created DAX measures:</a:t>
            </a:r>
          </a:p>
          <a:p>
            <a:pPr marL="561796" lvl="1" indent="-280898" algn="l">
              <a:lnSpc>
                <a:spcPts val="3642"/>
              </a:lnSpc>
              <a:buFont typeface="Arial"/>
              <a:buChar char="•"/>
            </a:pPr>
            <a:r>
              <a:rPr lang="en-US" sz="2602" dirty="0">
                <a:solidFill>
                  <a:srgbClr val="000000"/>
                </a:solidFill>
                <a:latin typeface="Times New Roman"/>
                <a:ea typeface="Times New Roman"/>
                <a:cs typeface="Times New Roman"/>
                <a:sym typeface="Times New Roman"/>
              </a:rPr>
              <a:t>Total Movies</a:t>
            </a:r>
          </a:p>
          <a:p>
            <a:pPr marL="561796" lvl="1" indent="-280898" algn="l">
              <a:lnSpc>
                <a:spcPts val="3642"/>
              </a:lnSpc>
              <a:buFont typeface="Arial"/>
              <a:buChar char="•"/>
            </a:pPr>
            <a:r>
              <a:rPr lang="en-US" sz="2602" dirty="0">
                <a:solidFill>
                  <a:srgbClr val="000000"/>
                </a:solidFill>
                <a:latin typeface="Times New Roman"/>
                <a:ea typeface="Times New Roman"/>
                <a:cs typeface="Times New Roman"/>
                <a:sym typeface="Times New Roman"/>
              </a:rPr>
              <a:t>Total Votes</a:t>
            </a:r>
          </a:p>
          <a:p>
            <a:pPr marL="561796" lvl="1" indent="-280898" algn="l">
              <a:lnSpc>
                <a:spcPts val="3642"/>
              </a:lnSpc>
              <a:buFont typeface="Arial"/>
              <a:buChar char="•"/>
            </a:pPr>
            <a:r>
              <a:rPr lang="en-US" sz="2602" dirty="0">
                <a:solidFill>
                  <a:srgbClr val="000000"/>
                </a:solidFill>
                <a:latin typeface="Times New Roman"/>
                <a:ea typeface="Times New Roman"/>
                <a:cs typeface="Times New Roman"/>
                <a:sym typeface="Times New Roman"/>
              </a:rPr>
              <a:t>Total Revenue</a:t>
            </a:r>
          </a:p>
          <a:p>
            <a:pPr marL="561796" lvl="1" indent="-280898" algn="l">
              <a:lnSpc>
                <a:spcPts val="3642"/>
              </a:lnSpc>
              <a:buFont typeface="Arial"/>
              <a:buChar char="•"/>
            </a:pPr>
            <a:r>
              <a:rPr lang="en-US" sz="2602" dirty="0">
                <a:solidFill>
                  <a:srgbClr val="000000"/>
                </a:solidFill>
                <a:latin typeface="Times New Roman"/>
                <a:ea typeface="Times New Roman"/>
                <a:cs typeface="Times New Roman"/>
                <a:sym typeface="Times New Roman"/>
              </a:rPr>
              <a:t>Average Rating</a:t>
            </a:r>
          </a:p>
          <a:p>
            <a:pPr marL="561796" lvl="1" indent="-280898" algn="l">
              <a:lnSpc>
                <a:spcPts val="3642"/>
              </a:lnSpc>
              <a:buFont typeface="Arial"/>
              <a:buChar char="•"/>
            </a:pPr>
            <a:r>
              <a:rPr lang="en-US" sz="2602" dirty="0">
                <a:solidFill>
                  <a:srgbClr val="000000"/>
                </a:solidFill>
                <a:latin typeface="Times New Roman"/>
                <a:ea typeface="Times New Roman"/>
                <a:cs typeface="Times New Roman"/>
                <a:sym typeface="Times New Roman"/>
              </a:rPr>
              <a:t>Average </a:t>
            </a:r>
            <a:r>
              <a:rPr lang="en-US" sz="2602" dirty="0" err="1">
                <a:solidFill>
                  <a:srgbClr val="000000"/>
                </a:solidFill>
                <a:latin typeface="Times New Roman"/>
                <a:ea typeface="Times New Roman"/>
                <a:cs typeface="Times New Roman"/>
                <a:sym typeface="Times New Roman"/>
              </a:rPr>
              <a:t>Metascore</a:t>
            </a:r>
            <a:endParaRPr lang="en-US" sz="2602" dirty="0">
              <a:solidFill>
                <a:srgbClr val="000000"/>
              </a:solidFill>
              <a:latin typeface="Times New Roman"/>
              <a:ea typeface="Times New Roman"/>
              <a:cs typeface="Times New Roman"/>
              <a:sym typeface="Times New Roman"/>
            </a:endParaRPr>
          </a:p>
        </p:txBody>
      </p:sp>
      <p:sp>
        <p:nvSpPr>
          <p:cNvPr id="7" name="Freeform 7"/>
          <p:cNvSpPr/>
          <p:nvPr/>
        </p:nvSpPr>
        <p:spPr>
          <a:xfrm>
            <a:off x="8005075" y="2990755"/>
            <a:ext cx="13215682" cy="12590940"/>
          </a:xfrm>
          <a:custGeom>
            <a:avLst/>
            <a:gdLst/>
            <a:ahLst/>
            <a:cxnLst/>
            <a:rect l="l" t="t" r="r" b="b"/>
            <a:pathLst>
              <a:path w="13215682" h="12590940">
                <a:moveTo>
                  <a:pt x="0" y="0"/>
                </a:moveTo>
                <a:lnTo>
                  <a:pt x="13215681" y="0"/>
                </a:lnTo>
                <a:lnTo>
                  <a:pt x="13215681" y="12590941"/>
                </a:lnTo>
                <a:lnTo>
                  <a:pt x="0" y="1259094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8" name="Freeform 8"/>
          <p:cNvSpPr/>
          <p:nvPr/>
        </p:nvSpPr>
        <p:spPr>
          <a:xfrm>
            <a:off x="-3321531" y="-2818402"/>
            <a:ext cx="7671762" cy="7085918"/>
          </a:xfrm>
          <a:custGeom>
            <a:avLst/>
            <a:gdLst/>
            <a:ahLst/>
            <a:cxnLst/>
            <a:rect l="l" t="t" r="r" b="b"/>
            <a:pathLst>
              <a:path w="7671762" h="7085918">
                <a:moveTo>
                  <a:pt x="0" y="0"/>
                </a:moveTo>
                <a:lnTo>
                  <a:pt x="7671762" y="0"/>
                </a:lnTo>
                <a:lnTo>
                  <a:pt x="7671762" y="7085918"/>
                </a:lnTo>
                <a:lnTo>
                  <a:pt x="0" y="708591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9" name="TextBox 9"/>
          <p:cNvSpPr txBox="1"/>
          <p:nvPr/>
        </p:nvSpPr>
        <p:spPr>
          <a:xfrm>
            <a:off x="4629922" y="510894"/>
            <a:ext cx="5504721" cy="930837"/>
          </a:xfrm>
          <a:prstGeom prst="rect">
            <a:avLst/>
          </a:prstGeom>
        </p:spPr>
        <p:txBody>
          <a:bodyPr lIns="0" tIns="0" rIns="0" bIns="0" rtlCol="0" anchor="t">
            <a:spAutoFit/>
          </a:bodyPr>
          <a:lstStyle/>
          <a:p>
            <a:pPr algn="ctr">
              <a:lnSpc>
                <a:spcPts val="7624"/>
              </a:lnSpc>
              <a:spcBef>
                <a:spcPct val="0"/>
              </a:spcBef>
            </a:pPr>
            <a:r>
              <a:rPr lang="en-US" sz="5445" dirty="0">
                <a:solidFill>
                  <a:srgbClr val="000000"/>
                </a:solidFill>
                <a:latin typeface="High Cruiser"/>
                <a:ea typeface="High Cruiser"/>
                <a:cs typeface="High Cruiser"/>
                <a:sym typeface="High Cruiser"/>
              </a:rPr>
              <a:t>Approach</a:t>
            </a:r>
          </a:p>
        </p:txBody>
      </p:sp>
      <p:sp>
        <p:nvSpPr>
          <p:cNvPr id="10" name="Freeform 10"/>
          <p:cNvSpPr/>
          <p:nvPr/>
        </p:nvSpPr>
        <p:spPr>
          <a:xfrm flipH="1">
            <a:off x="13937769" y="-2818402"/>
            <a:ext cx="7671762" cy="7085918"/>
          </a:xfrm>
          <a:custGeom>
            <a:avLst/>
            <a:gdLst/>
            <a:ahLst/>
            <a:cxnLst/>
            <a:rect l="l" t="t" r="r" b="b"/>
            <a:pathLst>
              <a:path w="7671762" h="7085918">
                <a:moveTo>
                  <a:pt x="7671762" y="0"/>
                </a:moveTo>
                <a:lnTo>
                  <a:pt x="0" y="0"/>
                </a:lnTo>
                <a:lnTo>
                  <a:pt x="0" y="7085918"/>
                </a:lnTo>
                <a:lnTo>
                  <a:pt x="7671762" y="7085918"/>
                </a:lnTo>
                <a:lnTo>
                  <a:pt x="7671762"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D52D2D"/>
        </a:solidFill>
        <a:effectLst/>
      </p:bgPr>
    </p:bg>
    <p:spTree>
      <p:nvGrpSpPr>
        <p:cNvPr id="1" name=""/>
        <p:cNvGrpSpPr/>
        <p:nvPr/>
      </p:nvGrpSpPr>
      <p:grpSpPr>
        <a:xfrm>
          <a:off x="0" y="0"/>
          <a:ext cx="0" cy="0"/>
          <a:chOff x="0" y="0"/>
          <a:chExt cx="0" cy="0"/>
        </a:xfrm>
      </p:grpSpPr>
      <p:grpSp>
        <p:nvGrpSpPr>
          <p:cNvPr id="2" name="Group 2"/>
          <p:cNvGrpSpPr/>
          <p:nvPr/>
        </p:nvGrpSpPr>
        <p:grpSpPr>
          <a:xfrm rot="9976659">
            <a:off x="-5928010" y="1563886"/>
            <a:ext cx="28163977" cy="15983985"/>
            <a:chOff x="0" y="0"/>
            <a:chExt cx="1409000" cy="799654"/>
          </a:xfrm>
        </p:grpSpPr>
        <p:sp>
          <p:nvSpPr>
            <p:cNvPr id="3" name="Freeform 3"/>
            <p:cNvSpPr/>
            <p:nvPr/>
          </p:nvSpPr>
          <p:spPr>
            <a:xfrm>
              <a:off x="0" y="0"/>
              <a:ext cx="1409000" cy="799654"/>
            </a:xfrm>
            <a:custGeom>
              <a:avLst/>
              <a:gdLst/>
              <a:ahLst/>
              <a:cxnLst/>
              <a:rect l="l" t="t" r="r" b="b"/>
              <a:pathLst>
                <a:path w="1409000" h="799654">
                  <a:moveTo>
                    <a:pt x="704500" y="0"/>
                  </a:moveTo>
                  <a:lnTo>
                    <a:pt x="1409000" y="799654"/>
                  </a:lnTo>
                  <a:lnTo>
                    <a:pt x="0" y="799654"/>
                  </a:lnTo>
                  <a:lnTo>
                    <a:pt x="704500" y="0"/>
                  </a:lnTo>
                  <a:close/>
                </a:path>
              </a:pathLst>
            </a:custGeom>
            <a:gradFill rotWithShape="1">
              <a:gsLst>
                <a:gs pos="0">
                  <a:srgbClr val="FFDE59">
                    <a:alpha val="100000"/>
                  </a:srgbClr>
                </a:gs>
                <a:gs pos="100000">
                  <a:srgbClr val="FF914D">
                    <a:alpha val="100000"/>
                  </a:srgbClr>
                </a:gs>
              </a:gsLst>
              <a:lin ang="0"/>
            </a:gradFill>
          </p:spPr>
          <p:txBody>
            <a:bodyPr/>
            <a:lstStyle/>
            <a:p>
              <a:endParaRPr lang="en-US"/>
            </a:p>
          </p:txBody>
        </p:sp>
        <p:sp>
          <p:nvSpPr>
            <p:cNvPr id="4" name="TextBox 4"/>
            <p:cNvSpPr txBox="1"/>
            <p:nvPr/>
          </p:nvSpPr>
          <p:spPr>
            <a:xfrm>
              <a:off x="220156" y="314118"/>
              <a:ext cx="968687" cy="428418"/>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rot="7106552">
            <a:off x="15692846" y="-2926745"/>
            <a:ext cx="3132908" cy="7590746"/>
          </a:xfrm>
          <a:custGeom>
            <a:avLst/>
            <a:gdLst/>
            <a:ahLst/>
            <a:cxnLst/>
            <a:rect l="l" t="t" r="r" b="b"/>
            <a:pathLst>
              <a:path w="3132908" h="7590746">
                <a:moveTo>
                  <a:pt x="0" y="0"/>
                </a:moveTo>
                <a:lnTo>
                  <a:pt x="3132908" y="0"/>
                </a:lnTo>
                <a:lnTo>
                  <a:pt x="3132908" y="7590746"/>
                </a:lnTo>
                <a:lnTo>
                  <a:pt x="0" y="759074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Freeform 6"/>
          <p:cNvSpPr/>
          <p:nvPr/>
        </p:nvSpPr>
        <p:spPr>
          <a:xfrm flipH="1">
            <a:off x="-4296936" y="264874"/>
            <a:ext cx="12560317" cy="11966557"/>
          </a:xfrm>
          <a:custGeom>
            <a:avLst/>
            <a:gdLst/>
            <a:ahLst/>
            <a:cxnLst/>
            <a:rect l="l" t="t" r="r" b="b"/>
            <a:pathLst>
              <a:path w="12560317" h="11966557">
                <a:moveTo>
                  <a:pt x="12560317" y="0"/>
                </a:moveTo>
                <a:lnTo>
                  <a:pt x="0" y="0"/>
                </a:lnTo>
                <a:lnTo>
                  <a:pt x="0" y="11966557"/>
                </a:lnTo>
                <a:lnTo>
                  <a:pt x="12560317" y="11966557"/>
                </a:lnTo>
                <a:lnTo>
                  <a:pt x="12560317"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7" name="Freeform 7"/>
          <p:cNvSpPr/>
          <p:nvPr/>
        </p:nvSpPr>
        <p:spPr>
          <a:xfrm rot="-1067245">
            <a:off x="13365447" y="5934014"/>
            <a:ext cx="6076697" cy="5759401"/>
          </a:xfrm>
          <a:custGeom>
            <a:avLst/>
            <a:gdLst/>
            <a:ahLst/>
            <a:cxnLst/>
            <a:rect l="l" t="t" r="r" b="b"/>
            <a:pathLst>
              <a:path w="6076697" h="5759401">
                <a:moveTo>
                  <a:pt x="0" y="0"/>
                </a:moveTo>
                <a:lnTo>
                  <a:pt x="6076697" y="0"/>
                </a:lnTo>
                <a:lnTo>
                  <a:pt x="6076697" y="5759402"/>
                </a:lnTo>
                <a:lnTo>
                  <a:pt x="0" y="575940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8" name="Freeform 8"/>
          <p:cNvSpPr/>
          <p:nvPr/>
        </p:nvSpPr>
        <p:spPr>
          <a:xfrm>
            <a:off x="-3057827" y="-2021949"/>
            <a:ext cx="8173055" cy="7786692"/>
          </a:xfrm>
          <a:custGeom>
            <a:avLst/>
            <a:gdLst/>
            <a:ahLst/>
            <a:cxnLst/>
            <a:rect l="l" t="t" r="r" b="b"/>
            <a:pathLst>
              <a:path w="8173055" h="7786692">
                <a:moveTo>
                  <a:pt x="0" y="0"/>
                </a:moveTo>
                <a:lnTo>
                  <a:pt x="8173054" y="0"/>
                </a:lnTo>
                <a:lnTo>
                  <a:pt x="8173054" y="7786692"/>
                </a:lnTo>
                <a:lnTo>
                  <a:pt x="0" y="778669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9" name="Freeform 9"/>
          <p:cNvSpPr/>
          <p:nvPr/>
        </p:nvSpPr>
        <p:spPr>
          <a:xfrm>
            <a:off x="3773001" y="1436479"/>
            <a:ext cx="12805745" cy="5234348"/>
          </a:xfrm>
          <a:custGeom>
            <a:avLst/>
            <a:gdLst/>
            <a:ahLst/>
            <a:cxnLst/>
            <a:rect l="l" t="t" r="r" b="b"/>
            <a:pathLst>
              <a:path w="12805745" h="5234348">
                <a:moveTo>
                  <a:pt x="0" y="0"/>
                </a:moveTo>
                <a:lnTo>
                  <a:pt x="12805745" y="0"/>
                </a:lnTo>
                <a:lnTo>
                  <a:pt x="12805745" y="5234348"/>
                </a:lnTo>
                <a:lnTo>
                  <a:pt x="0" y="5234348"/>
                </a:lnTo>
                <a:lnTo>
                  <a:pt x="0" y="0"/>
                </a:lnTo>
                <a:close/>
              </a:path>
            </a:pathLst>
          </a:custGeom>
          <a:blipFill>
            <a:blip r:embed="rId8"/>
            <a:stretch>
              <a:fillRect/>
            </a:stretch>
          </a:blipFill>
        </p:spPr>
        <p:txBody>
          <a:bodyPr/>
          <a:lstStyle/>
          <a:p>
            <a:endParaRPr lang="en-US"/>
          </a:p>
        </p:txBody>
      </p:sp>
      <p:sp>
        <p:nvSpPr>
          <p:cNvPr id="10" name="TextBox 10"/>
          <p:cNvSpPr txBox="1"/>
          <p:nvPr/>
        </p:nvSpPr>
        <p:spPr>
          <a:xfrm>
            <a:off x="4903649" y="318582"/>
            <a:ext cx="5740982" cy="985792"/>
          </a:xfrm>
          <a:prstGeom prst="rect">
            <a:avLst/>
          </a:prstGeom>
        </p:spPr>
        <p:txBody>
          <a:bodyPr lIns="0" tIns="0" rIns="0" bIns="0" rtlCol="0" anchor="t">
            <a:spAutoFit/>
          </a:bodyPr>
          <a:lstStyle/>
          <a:p>
            <a:pPr algn="r">
              <a:lnSpc>
                <a:spcPts val="8042"/>
              </a:lnSpc>
              <a:spcBef>
                <a:spcPct val="0"/>
              </a:spcBef>
            </a:pPr>
            <a:r>
              <a:rPr lang="en-US" sz="5744" spc="597" dirty="0">
                <a:solidFill>
                  <a:srgbClr val="000000"/>
                </a:solidFill>
                <a:latin typeface="High Cruiser"/>
                <a:ea typeface="High Cruiser"/>
                <a:cs typeface="High Cruiser"/>
                <a:sym typeface="High Cruiser"/>
              </a:rPr>
              <a:t>Model View</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D52D2D"/>
        </a:solidFill>
        <a:effectLst/>
      </p:bgPr>
    </p:bg>
    <p:spTree>
      <p:nvGrpSpPr>
        <p:cNvPr id="1" name=""/>
        <p:cNvGrpSpPr/>
        <p:nvPr/>
      </p:nvGrpSpPr>
      <p:grpSpPr>
        <a:xfrm>
          <a:off x="0" y="0"/>
          <a:ext cx="0" cy="0"/>
          <a:chOff x="0" y="0"/>
          <a:chExt cx="0" cy="0"/>
        </a:xfrm>
      </p:grpSpPr>
      <p:grpSp>
        <p:nvGrpSpPr>
          <p:cNvPr id="2" name="Group 2"/>
          <p:cNvGrpSpPr/>
          <p:nvPr/>
        </p:nvGrpSpPr>
        <p:grpSpPr>
          <a:xfrm rot="4271176">
            <a:off x="84798" y="-2369165"/>
            <a:ext cx="28163977" cy="22035903"/>
            <a:chOff x="0" y="0"/>
            <a:chExt cx="1409000" cy="1102422"/>
          </a:xfrm>
        </p:grpSpPr>
        <p:sp>
          <p:nvSpPr>
            <p:cNvPr id="3" name="Freeform 3"/>
            <p:cNvSpPr/>
            <p:nvPr/>
          </p:nvSpPr>
          <p:spPr>
            <a:xfrm>
              <a:off x="0" y="0"/>
              <a:ext cx="1409000" cy="1102422"/>
            </a:xfrm>
            <a:custGeom>
              <a:avLst/>
              <a:gdLst/>
              <a:ahLst/>
              <a:cxnLst/>
              <a:rect l="l" t="t" r="r" b="b"/>
              <a:pathLst>
                <a:path w="1409000" h="1102422">
                  <a:moveTo>
                    <a:pt x="704500" y="0"/>
                  </a:moveTo>
                  <a:lnTo>
                    <a:pt x="1409000" y="1102422"/>
                  </a:lnTo>
                  <a:lnTo>
                    <a:pt x="0" y="1102422"/>
                  </a:lnTo>
                  <a:lnTo>
                    <a:pt x="704500" y="0"/>
                  </a:lnTo>
                  <a:close/>
                </a:path>
              </a:pathLst>
            </a:custGeom>
            <a:gradFill rotWithShape="1">
              <a:gsLst>
                <a:gs pos="0">
                  <a:srgbClr val="FFDE59">
                    <a:alpha val="100000"/>
                  </a:srgbClr>
                </a:gs>
                <a:gs pos="100000">
                  <a:srgbClr val="FF914D">
                    <a:alpha val="100000"/>
                  </a:srgbClr>
                </a:gs>
              </a:gsLst>
              <a:lin ang="0"/>
            </a:gradFill>
          </p:spPr>
          <p:txBody>
            <a:bodyPr/>
            <a:lstStyle/>
            <a:p>
              <a:endParaRPr lang="en-US"/>
            </a:p>
          </p:txBody>
        </p:sp>
        <p:sp>
          <p:nvSpPr>
            <p:cNvPr id="4" name="TextBox 4"/>
            <p:cNvSpPr txBox="1"/>
            <p:nvPr/>
          </p:nvSpPr>
          <p:spPr>
            <a:xfrm>
              <a:off x="220156" y="454689"/>
              <a:ext cx="968687" cy="568989"/>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flipH="1">
            <a:off x="10286760" y="-3798358"/>
            <a:ext cx="13215682" cy="12590940"/>
          </a:xfrm>
          <a:custGeom>
            <a:avLst/>
            <a:gdLst/>
            <a:ahLst/>
            <a:cxnLst/>
            <a:rect l="l" t="t" r="r" b="b"/>
            <a:pathLst>
              <a:path w="13215682" h="12590940">
                <a:moveTo>
                  <a:pt x="13215681" y="0"/>
                </a:moveTo>
                <a:lnTo>
                  <a:pt x="0" y="0"/>
                </a:lnTo>
                <a:lnTo>
                  <a:pt x="0" y="12590940"/>
                </a:lnTo>
                <a:lnTo>
                  <a:pt x="13215681" y="12590940"/>
                </a:lnTo>
                <a:lnTo>
                  <a:pt x="13215681"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Freeform 6"/>
          <p:cNvSpPr/>
          <p:nvPr/>
        </p:nvSpPr>
        <p:spPr>
          <a:xfrm rot="7106552">
            <a:off x="526203" y="5442360"/>
            <a:ext cx="3555050" cy="8613557"/>
          </a:xfrm>
          <a:custGeom>
            <a:avLst/>
            <a:gdLst/>
            <a:ahLst/>
            <a:cxnLst/>
            <a:rect l="l" t="t" r="r" b="b"/>
            <a:pathLst>
              <a:path w="3555050" h="8613557">
                <a:moveTo>
                  <a:pt x="0" y="0"/>
                </a:moveTo>
                <a:lnTo>
                  <a:pt x="3555049" y="0"/>
                </a:lnTo>
                <a:lnTo>
                  <a:pt x="3555049" y="8613557"/>
                </a:lnTo>
                <a:lnTo>
                  <a:pt x="0" y="861355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7" name="Freeform 7"/>
          <p:cNvSpPr/>
          <p:nvPr/>
        </p:nvSpPr>
        <p:spPr>
          <a:xfrm>
            <a:off x="7980421" y="2962830"/>
            <a:ext cx="13215682" cy="12590940"/>
          </a:xfrm>
          <a:custGeom>
            <a:avLst/>
            <a:gdLst/>
            <a:ahLst/>
            <a:cxnLst/>
            <a:rect l="l" t="t" r="r" b="b"/>
            <a:pathLst>
              <a:path w="13215682" h="12590940">
                <a:moveTo>
                  <a:pt x="0" y="0"/>
                </a:moveTo>
                <a:lnTo>
                  <a:pt x="13215682" y="0"/>
                </a:lnTo>
                <a:lnTo>
                  <a:pt x="13215682" y="12590940"/>
                </a:lnTo>
                <a:lnTo>
                  <a:pt x="0" y="1259094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2" name="TextBox 12"/>
          <p:cNvSpPr txBox="1"/>
          <p:nvPr/>
        </p:nvSpPr>
        <p:spPr>
          <a:xfrm>
            <a:off x="781313" y="628774"/>
            <a:ext cx="5961872" cy="2008207"/>
          </a:xfrm>
          <a:prstGeom prst="rect">
            <a:avLst/>
          </a:prstGeom>
        </p:spPr>
        <p:txBody>
          <a:bodyPr lIns="0" tIns="0" rIns="0" bIns="0" rtlCol="0" anchor="t">
            <a:spAutoFit/>
          </a:bodyPr>
          <a:lstStyle/>
          <a:p>
            <a:pPr algn="l">
              <a:lnSpc>
                <a:spcPts val="8064"/>
              </a:lnSpc>
            </a:pPr>
            <a:r>
              <a:rPr lang="en-US" sz="5760" dirty="0">
                <a:solidFill>
                  <a:srgbClr val="000000"/>
                </a:solidFill>
                <a:latin typeface="High Cruiser"/>
                <a:ea typeface="High Cruiser"/>
                <a:cs typeface="High Cruiser"/>
                <a:sym typeface="High Cruiser"/>
              </a:rPr>
              <a:t>Key Visuals</a:t>
            </a:r>
          </a:p>
          <a:p>
            <a:pPr algn="l">
              <a:lnSpc>
                <a:spcPts val="8064"/>
              </a:lnSpc>
              <a:spcBef>
                <a:spcPct val="0"/>
              </a:spcBef>
            </a:pPr>
            <a:endParaRPr lang="en-US" sz="5760" dirty="0">
              <a:solidFill>
                <a:srgbClr val="000000"/>
              </a:solidFill>
              <a:latin typeface="High Cruiser"/>
              <a:ea typeface="High Cruiser"/>
              <a:cs typeface="High Cruiser"/>
              <a:sym typeface="High Cruiser"/>
            </a:endParaRPr>
          </a:p>
        </p:txBody>
      </p:sp>
      <p:grpSp>
        <p:nvGrpSpPr>
          <p:cNvPr id="17" name="Group 16">
            <a:extLst>
              <a:ext uri="{FF2B5EF4-FFF2-40B4-BE49-F238E27FC236}">
                <a16:creationId xmlns:a16="http://schemas.microsoft.com/office/drawing/2014/main" id="{6FCD12DB-3805-A9CF-BC3A-009968DE79FE}"/>
              </a:ext>
            </a:extLst>
          </p:cNvPr>
          <p:cNvGrpSpPr/>
          <p:nvPr/>
        </p:nvGrpSpPr>
        <p:grpSpPr>
          <a:xfrm>
            <a:off x="1510606" y="2936678"/>
            <a:ext cx="16179108" cy="4478566"/>
            <a:chOff x="1510606" y="2936678"/>
            <a:chExt cx="16179108" cy="4478566"/>
          </a:xfrm>
        </p:grpSpPr>
        <p:sp>
          <p:nvSpPr>
            <p:cNvPr id="8" name="Freeform 8"/>
            <p:cNvSpPr/>
            <p:nvPr/>
          </p:nvSpPr>
          <p:spPr>
            <a:xfrm>
              <a:off x="1672865" y="2962830"/>
              <a:ext cx="640599" cy="640599"/>
            </a:xfrm>
            <a:custGeom>
              <a:avLst/>
              <a:gdLst/>
              <a:ahLst/>
              <a:cxnLst/>
              <a:rect l="l" t="t" r="r" b="b"/>
              <a:pathLst>
                <a:path w="640599" h="640599">
                  <a:moveTo>
                    <a:pt x="0" y="0"/>
                  </a:moveTo>
                  <a:lnTo>
                    <a:pt x="640598" y="0"/>
                  </a:lnTo>
                  <a:lnTo>
                    <a:pt x="640598" y="640598"/>
                  </a:lnTo>
                  <a:lnTo>
                    <a:pt x="0" y="64059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9" name="Freeform 9"/>
            <p:cNvSpPr/>
            <p:nvPr/>
          </p:nvSpPr>
          <p:spPr>
            <a:xfrm>
              <a:off x="1672865" y="4182699"/>
              <a:ext cx="708361" cy="708361"/>
            </a:xfrm>
            <a:custGeom>
              <a:avLst/>
              <a:gdLst/>
              <a:ahLst/>
              <a:cxnLst/>
              <a:rect l="l" t="t" r="r" b="b"/>
              <a:pathLst>
                <a:path w="708361" h="708361">
                  <a:moveTo>
                    <a:pt x="0" y="0"/>
                  </a:moveTo>
                  <a:lnTo>
                    <a:pt x="708361" y="0"/>
                  </a:lnTo>
                  <a:lnTo>
                    <a:pt x="708361" y="708361"/>
                  </a:lnTo>
                  <a:lnTo>
                    <a:pt x="0" y="708361"/>
                  </a:lnTo>
                  <a:lnTo>
                    <a:pt x="0" y="0"/>
                  </a:lnTo>
                  <a:close/>
                </a:path>
              </a:pathLst>
            </a:custGeom>
            <a:blipFill>
              <a:blip r:embed="rId8"/>
              <a:stretch>
                <a:fillRect/>
              </a:stretch>
            </a:blipFill>
          </p:spPr>
          <p:txBody>
            <a:bodyPr/>
            <a:lstStyle/>
            <a:p>
              <a:endParaRPr lang="en-US"/>
            </a:p>
          </p:txBody>
        </p:sp>
        <p:sp>
          <p:nvSpPr>
            <p:cNvPr id="10" name="Freeform 10"/>
            <p:cNvSpPr/>
            <p:nvPr/>
          </p:nvSpPr>
          <p:spPr>
            <a:xfrm>
              <a:off x="1510606" y="5457281"/>
              <a:ext cx="965117" cy="572051"/>
            </a:xfrm>
            <a:custGeom>
              <a:avLst/>
              <a:gdLst/>
              <a:ahLst/>
              <a:cxnLst/>
              <a:rect l="l" t="t" r="r" b="b"/>
              <a:pathLst>
                <a:path w="965117" h="572051">
                  <a:moveTo>
                    <a:pt x="0" y="0"/>
                  </a:moveTo>
                  <a:lnTo>
                    <a:pt x="965116" y="0"/>
                  </a:lnTo>
                  <a:lnTo>
                    <a:pt x="965116" y="572051"/>
                  </a:lnTo>
                  <a:lnTo>
                    <a:pt x="0" y="572051"/>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11" name="Freeform 11"/>
            <p:cNvSpPr/>
            <p:nvPr/>
          </p:nvSpPr>
          <p:spPr>
            <a:xfrm>
              <a:off x="1534751" y="6689049"/>
              <a:ext cx="984588" cy="726195"/>
            </a:xfrm>
            <a:custGeom>
              <a:avLst/>
              <a:gdLst/>
              <a:ahLst/>
              <a:cxnLst/>
              <a:rect l="l" t="t" r="r" b="b"/>
              <a:pathLst>
                <a:path w="984588" h="726195">
                  <a:moveTo>
                    <a:pt x="0" y="0"/>
                  </a:moveTo>
                  <a:lnTo>
                    <a:pt x="984588" y="0"/>
                  </a:lnTo>
                  <a:lnTo>
                    <a:pt x="984588" y="726195"/>
                  </a:lnTo>
                  <a:lnTo>
                    <a:pt x="0" y="726195"/>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US"/>
            </a:p>
          </p:txBody>
        </p:sp>
        <p:sp>
          <p:nvSpPr>
            <p:cNvPr id="13" name="TextBox 13"/>
            <p:cNvSpPr txBox="1"/>
            <p:nvPr/>
          </p:nvSpPr>
          <p:spPr>
            <a:xfrm>
              <a:off x="2164731" y="2936678"/>
              <a:ext cx="11126897" cy="1047751"/>
            </a:xfrm>
            <a:prstGeom prst="rect">
              <a:avLst/>
            </a:prstGeom>
          </p:spPr>
          <p:txBody>
            <a:bodyPr lIns="0" tIns="0" rIns="0" bIns="0" rtlCol="0" anchor="t">
              <a:spAutoFit/>
            </a:bodyPr>
            <a:lstStyle/>
            <a:p>
              <a:pPr marL="647694" lvl="1" indent="-323847" algn="l">
                <a:lnSpc>
                  <a:spcPts val="4199"/>
                </a:lnSpc>
                <a:buFont typeface="Arial"/>
                <a:buChar char="•"/>
              </a:pPr>
              <a:r>
                <a:rPr lang="en-US" sz="2999" b="1" dirty="0">
                  <a:solidFill>
                    <a:srgbClr val="000000"/>
                  </a:solidFill>
                  <a:latin typeface="Times New Roman Bold"/>
                  <a:ea typeface="Times New Roman Bold"/>
                  <a:cs typeface="Times New Roman Bold"/>
                  <a:sym typeface="Times New Roman Bold"/>
                </a:rPr>
                <a:t>Donat Chart</a:t>
              </a:r>
              <a:r>
                <a:rPr lang="en-US" sz="2999" dirty="0">
                  <a:solidFill>
                    <a:srgbClr val="000000"/>
                  </a:solidFill>
                  <a:latin typeface="Times New Roman"/>
                  <a:ea typeface="Times New Roman"/>
                  <a:cs typeface="Times New Roman"/>
                  <a:sym typeface="Times New Roman"/>
                </a:rPr>
                <a:t>: Shows average ratings for different movie genres</a:t>
              </a:r>
            </a:p>
            <a:p>
              <a:pPr algn="l">
                <a:lnSpc>
                  <a:spcPts val="4199"/>
                </a:lnSpc>
                <a:spcBef>
                  <a:spcPct val="0"/>
                </a:spcBef>
              </a:pPr>
              <a:endParaRPr lang="en-US" sz="2999" dirty="0">
                <a:solidFill>
                  <a:srgbClr val="000000"/>
                </a:solidFill>
                <a:latin typeface="Times New Roman"/>
                <a:ea typeface="Times New Roman"/>
                <a:cs typeface="Times New Roman"/>
                <a:sym typeface="Times New Roman"/>
              </a:endParaRPr>
            </a:p>
          </p:txBody>
        </p:sp>
        <p:sp>
          <p:nvSpPr>
            <p:cNvPr id="14" name="TextBox 14"/>
            <p:cNvSpPr txBox="1"/>
            <p:nvPr/>
          </p:nvSpPr>
          <p:spPr>
            <a:xfrm>
              <a:off x="2303727" y="4142831"/>
              <a:ext cx="13543121" cy="523876"/>
            </a:xfrm>
            <a:prstGeom prst="rect">
              <a:avLst/>
            </a:prstGeom>
          </p:spPr>
          <p:txBody>
            <a:bodyPr lIns="0" tIns="0" rIns="0" bIns="0" rtlCol="0" anchor="t">
              <a:spAutoFit/>
            </a:bodyPr>
            <a:lstStyle/>
            <a:p>
              <a:pPr marL="647694" lvl="1" indent="-323847" algn="ctr">
                <a:lnSpc>
                  <a:spcPts val="4199"/>
                </a:lnSpc>
                <a:buFont typeface="Arial"/>
                <a:buChar char="•"/>
              </a:pPr>
              <a:r>
                <a:rPr lang="en-US" sz="2999" b="1">
                  <a:solidFill>
                    <a:srgbClr val="000000"/>
                  </a:solidFill>
                  <a:latin typeface="Times New Roman Bold"/>
                  <a:ea typeface="Times New Roman Bold"/>
                  <a:cs typeface="Times New Roman Bold"/>
                  <a:sym typeface="Times New Roman Bold"/>
                </a:rPr>
                <a:t>Funnel chart</a:t>
              </a:r>
              <a:r>
                <a:rPr lang="en-US" sz="2999">
                  <a:solidFill>
                    <a:srgbClr val="000000"/>
                  </a:solidFill>
                  <a:latin typeface="Times New Roman"/>
                  <a:ea typeface="Times New Roman"/>
                  <a:cs typeface="Times New Roman"/>
                  <a:sym typeface="Times New Roman"/>
                </a:rPr>
                <a:t>: Displays the number of movies released each year from 2006 to 2016</a:t>
              </a:r>
            </a:p>
          </p:txBody>
        </p:sp>
        <p:sp>
          <p:nvSpPr>
            <p:cNvPr id="15" name="TextBox 15"/>
            <p:cNvSpPr txBox="1"/>
            <p:nvPr/>
          </p:nvSpPr>
          <p:spPr>
            <a:xfrm>
              <a:off x="2303727" y="5443269"/>
              <a:ext cx="11666919" cy="523876"/>
            </a:xfrm>
            <a:prstGeom prst="rect">
              <a:avLst/>
            </a:prstGeom>
          </p:spPr>
          <p:txBody>
            <a:bodyPr lIns="0" tIns="0" rIns="0" bIns="0" rtlCol="0" anchor="t">
              <a:spAutoFit/>
            </a:bodyPr>
            <a:lstStyle/>
            <a:p>
              <a:pPr marL="647694" lvl="1" indent="-323847" algn="ctr">
                <a:lnSpc>
                  <a:spcPts val="4199"/>
                </a:lnSpc>
                <a:buFont typeface="Arial"/>
                <a:buChar char="•"/>
              </a:pPr>
              <a:r>
                <a:rPr lang="en-US" sz="2999" b="1">
                  <a:solidFill>
                    <a:srgbClr val="000000"/>
                  </a:solidFill>
                  <a:latin typeface="Times New Roman Bold"/>
                  <a:ea typeface="Times New Roman Bold"/>
                  <a:cs typeface="Times New Roman Bold"/>
                  <a:sym typeface="Times New Roman Bold"/>
                </a:rPr>
                <a:t>Stacked Column chart</a:t>
              </a:r>
              <a:r>
                <a:rPr lang="en-US" sz="2999">
                  <a:solidFill>
                    <a:srgbClr val="000000"/>
                  </a:solidFill>
                  <a:latin typeface="Times New Roman"/>
                  <a:ea typeface="Times New Roman"/>
                  <a:cs typeface="Times New Roman"/>
                  <a:sym typeface="Times New Roman"/>
                </a:rPr>
                <a:t>: Displays Yearly box office revenue in millions </a:t>
              </a:r>
            </a:p>
          </p:txBody>
        </p:sp>
        <p:sp>
          <p:nvSpPr>
            <p:cNvPr id="16" name="TextBox 16"/>
            <p:cNvSpPr txBox="1"/>
            <p:nvPr/>
          </p:nvSpPr>
          <p:spPr>
            <a:xfrm>
              <a:off x="2371490" y="6734329"/>
              <a:ext cx="15318224" cy="549911"/>
            </a:xfrm>
            <a:prstGeom prst="rect">
              <a:avLst/>
            </a:prstGeom>
          </p:spPr>
          <p:txBody>
            <a:bodyPr lIns="0" tIns="0" rIns="0" bIns="0" rtlCol="0" anchor="t">
              <a:spAutoFit/>
            </a:bodyPr>
            <a:lstStyle/>
            <a:p>
              <a:pPr marL="669283" lvl="1" indent="-334641" algn="ctr">
                <a:lnSpc>
                  <a:spcPts val="4339"/>
                </a:lnSpc>
                <a:buFont typeface="Arial"/>
                <a:buChar char="•"/>
              </a:pPr>
              <a:r>
                <a:rPr lang="en-US" sz="3099" b="1" dirty="0">
                  <a:solidFill>
                    <a:srgbClr val="000000"/>
                  </a:solidFill>
                  <a:latin typeface="Times New Roman Bold"/>
                  <a:ea typeface="Times New Roman Bold"/>
                  <a:cs typeface="Times New Roman Bold"/>
                  <a:sym typeface="Times New Roman Bold"/>
                </a:rPr>
                <a:t>Line </a:t>
              </a:r>
              <a:r>
                <a:rPr lang="en-US" sz="3099" b="1" dirty="0" err="1">
                  <a:solidFill>
                    <a:srgbClr val="000000"/>
                  </a:solidFill>
                  <a:latin typeface="Times New Roman Bold"/>
                  <a:ea typeface="Times New Roman Bold"/>
                  <a:cs typeface="Times New Roman Bold"/>
                  <a:sym typeface="Times New Roman Bold"/>
                </a:rPr>
                <a:t>chart</a:t>
              </a:r>
              <a:r>
                <a:rPr lang="en-US" sz="3099" dirty="0" err="1">
                  <a:solidFill>
                    <a:srgbClr val="000000"/>
                  </a:solidFill>
                  <a:latin typeface="Times New Roman"/>
                  <a:ea typeface="Times New Roman"/>
                  <a:cs typeface="Times New Roman"/>
                  <a:sym typeface="Times New Roman"/>
                </a:rPr>
                <a:t>:Analyzes</a:t>
              </a:r>
              <a:r>
                <a:rPr lang="en-US" sz="3099" dirty="0">
                  <a:solidFill>
                    <a:srgbClr val="000000"/>
                  </a:solidFill>
                  <a:latin typeface="Times New Roman"/>
                  <a:ea typeface="Times New Roman"/>
                  <a:cs typeface="Times New Roman"/>
                  <a:sym typeface="Times New Roman"/>
                </a:rPr>
                <a:t> relationship between movie runtime and revenue for top-grossing films</a:t>
              </a: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D52D2D"/>
        </a:solidFill>
        <a:effectLst/>
      </p:bgPr>
    </p:bg>
    <p:spTree>
      <p:nvGrpSpPr>
        <p:cNvPr id="1" name=""/>
        <p:cNvGrpSpPr/>
        <p:nvPr/>
      </p:nvGrpSpPr>
      <p:grpSpPr>
        <a:xfrm>
          <a:off x="0" y="0"/>
          <a:ext cx="0" cy="0"/>
          <a:chOff x="0" y="0"/>
          <a:chExt cx="0" cy="0"/>
        </a:xfrm>
      </p:grpSpPr>
      <p:grpSp>
        <p:nvGrpSpPr>
          <p:cNvPr id="2" name="Group 2"/>
          <p:cNvGrpSpPr/>
          <p:nvPr/>
        </p:nvGrpSpPr>
        <p:grpSpPr>
          <a:xfrm rot="1938277">
            <a:off x="5913621" y="-2415270"/>
            <a:ext cx="18211072" cy="12636778"/>
            <a:chOff x="0" y="0"/>
            <a:chExt cx="1024922" cy="711200"/>
          </a:xfrm>
        </p:grpSpPr>
        <p:sp>
          <p:nvSpPr>
            <p:cNvPr id="3" name="Freeform 3"/>
            <p:cNvSpPr/>
            <p:nvPr/>
          </p:nvSpPr>
          <p:spPr>
            <a:xfrm>
              <a:off x="0" y="0"/>
              <a:ext cx="1024922" cy="711200"/>
            </a:xfrm>
            <a:custGeom>
              <a:avLst/>
              <a:gdLst/>
              <a:ahLst/>
              <a:cxnLst/>
              <a:rect l="l" t="t" r="r" b="b"/>
              <a:pathLst>
                <a:path w="1024922" h="711200">
                  <a:moveTo>
                    <a:pt x="512461" y="0"/>
                  </a:moveTo>
                  <a:lnTo>
                    <a:pt x="1024922" y="711200"/>
                  </a:lnTo>
                  <a:lnTo>
                    <a:pt x="0" y="711200"/>
                  </a:lnTo>
                  <a:lnTo>
                    <a:pt x="512461" y="0"/>
                  </a:lnTo>
                  <a:close/>
                </a:path>
              </a:pathLst>
            </a:custGeom>
            <a:gradFill rotWithShape="1">
              <a:gsLst>
                <a:gs pos="0">
                  <a:srgbClr val="FFDE59">
                    <a:alpha val="100000"/>
                  </a:srgbClr>
                </a:gs>
                <a:gs pos="100000">
                  <a:srgbClr val="FF914D">
                    <a:alpha val="100000"/>
                  </a:srgbClr>
                </a:gs>
              </a:gsLst>
              <a:lin ang="0"/>
            </a:gradFill>
          </p:spPr>
          <p:txBody>
            <a:bodyPr/>
            <a:lstStyle/>
            <a:p>
              <a:endParaRPr lang="en-US"/>
            </a:p>
          </p:txBody>
        </p:sp>
        <p:sp>
          <p:nvSpPr>
            <p:cNvPr id="4" name="TextBox 4"/>
            <p:cNvSpPr txBox="1"/>
            <p:nvPr/>
          </p:nvSpPr>
          <p:spPr>
            <a:xfrm>
              <a:off x="160144" y="273050"/>
              <a:ext cx="704634" cy="38735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2929064" y="1138365"/>
            <a:ext cx="8467795" cy="10851026"/>
            <a:chOff x="0" y="0"/>
            <a:chExt cx="2230201" cy="2857883"/>
          </a:xfrm>
        </p:grpSpPr>
        <p:sp>
          <p:nvSpPr>
            <p:cNvPr id="6" name="Freeform 6"/>
            <p:cNvSpPr/>
            <p:nvPr/>
          </p:nvSpPr>
          <p:spPr>
            <a:xfrm>
              <a:off x="0" y="0"/>
              <a:ext cx="2230201" cy="2857883"/>
            </a:xfrm>
            <a:custGeom>
              <a:avLst/>
              <a:gdLst/>
              <a:ahLst/>
              <a:cxnLst/>
              <a:rect l="l" t="t" r="r" b="b"/>
              <a:pathLst>
                <a:path w="2230201" h="2857883">
                  <a:moveTo>
                    <a:pt x="0" y="0"/>
                  </a:moveTo>
                  <a:lnTo>
                    <a:pt x="2230201" y="0"/>
                  </a:lnTo>
                  <a:lnTo>
                    <a:pt x="2230201" y="2857883"/>
                  </a:lnTo>
                  <a:lnTo>
                    <a:pt x="0" y="2857883"/>
                  </a:lnTo>
                  <a:close/>
                </a:path>
              </a:pathLst>
            </a:custGeom>
            <a:solidFill>
              <a:srgbClr val="D52D2D"/>
            </a:solidFill>
          </p:spPr>
          <p:txBody>
            <a:bodyPr/>
            <a:lstStyle/>
            <a:p>
              <a:endParaRPr lang="en-US"/>
            </a:p>
          </p:txBody>
        </p:sp>
        <p:sp>
          <p:nvSpPr>
            <p:cNvPr id="7" name="TextBox 7"/>
            <p:cNvSpPr txBox="1"/>
            <p:nvPr/>
          </p:nvSpPr>
          <p:spPr>
            <a:xfrm>
              <a:off x="0" y="-57150"/>
              <a:ext cx="2230201" cy="2915033"/>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158061" y="1813313"/>
            <a:ext cx="5696792" cy="10993810"/>
          </a:xfrm>
          <a:custGeom>
            <a:avLst/>
            <a:gdLst/>
            <a:ahLst/>
            <a:cxnLst/>
            <a:rect l="l" t="t" r="r" b="b"/>
            <a:pathLst>
              <a:path w="5696792" h="10993810">
                <a:moveTo>
                  <a:pt x="0" y="0"/>
                </a:moveTo>
                <a:lnTo>
                  <a:pt x="5696792" y="0"/>
                </a:lnTo>
                <a:lnTo>
                  <a:pt x="5696792" y="10993810"/>
                </a:lnTo>
                <a:lnTo>
                  <a:pt x="0" y="1099381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Freeform 9"/>
          <p:cNvSpPr/>
          <p:nvPr/>
        </p:nvSpPr>
        <p:spPr>
          <a:xfrm rot="4206900">
            <a:off x="1259459" y="-3310671"/>
            <a:ext cx="3132908" cy="7590746"/>
          </a:xfrm>
          <a:custGeom>
            <a:avLst/>
            <a:gdLst/>
            <a:ahLst/>
            <a:cxnLst/>
            <a:rect l="l" t="t" r="r" b="b"/>
            <a:pathLst>
              <a:path w="3132908" h="7590746">
                <a:moveTo>
                  <a:pt x="0" y="0"/>
                </a:moveTo>
                <a:lnTo>
                  <a:pt x="3132908" y="0"/>
                </a:lnTo>
                <a:lnTo>
                  <a:pt x="3132908" y="7590746"/>
                </a:lnTo>
                <a:lnTo>
                  <a:pt x="0" y="759074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0" name="Freeform 10"/>
          <p:cNvSpPr/>
          <p:nvPr/>
        </p:nvSpPr>
        <p:spPr>
          <a:xfrm>
            <a:off x="10166498" y="2003468"/>
            <a:ext cx="10837113" cy="10324813"/>
          </a:xfrm>
          <a:custGeom>
            <a:avLst/>
            <a:gdLst/>
            <a:ahLst/>
            <a:cxnLst/>
            <a:rect l="l" t="t" r="r" b="b"/>
            <a:pathLst>
              <a:path w="10837113" h="10324813">
                <a:moveTo>
                  <a:pt x="0" y="0"/>
                </a:moveTo>
                <a:lnTo>
                  <a:pt x="10837113" y="0"/>
                </a:lnTo>
                <a:lnTo>
                  <a:pt x="10837113" y="10324813"/>
                </a:lnTo>
                <a:lnTo>
                  <a:pt x="0" y="1032481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1" name="TextBox 11"/>
          <p:cNvSpPr txBox="1"/>
          <p:nvPr/>
        </p:nvSpPr>
        <p:spPr>
          <a:xfrm>
            <a:off x="9459583" y="3788818"/>
            <a:ext cx="5062271" cy="1052198"/>
          </a:xfrm>
          <a:prstGeom prst="rect">
            <a:avLst/>
          </a:prstGeom>
        </p:spPr>
        <p:txBody>
          <a:bodyPr lIns="0" tIns="0" rIns="0" bIns="0" rtlCol="0" anchor="t">
            <a:spAutoFit/>
          </a:bodyPr>
          <a:lstStyle/>
          <a:p>
            <a:pPr algn="ctr">
              <a:lnSpc>
                <a:spcPts val="8679"/>
              </a:lnSpc>
              <a:spcBef>
                <a:spcPct val="0"/>
              </a:spcBef>
            </a:pPr>
            <a:r>
              <a:rPr lang="en-US" sz="6199" u="sng" dirty="0" err="1">
                <a:solidFill>
                  <a:srgbClr val="000000"/>
                </a:solidFill>
                <a:latin typeface="High Cruiser"/>
                <a:ea typeface="High Cruiser"/>
                <a:cs typeface="High Cruiser"/>
                <a:sym typeface="High Cruiser"/>
                <a:hlinkClick r:id="rId8" tooltip="https://app.powerbi.com/links/5A926qG-XH?ctid=58227ec7-3bc0-48bb-ad87-42b8957dd8c6&amp;pbi_source=linkShare&amp;portalSessionId=7b69404e-2833-45d3-bb5a-def57827978a&amp;fromEntryPoint=share"/>
              </a:rPr>
              <a:t>Dashborad</a:t>
            </a:r>
            <a:endParaRPr lang="en-US" sz="6199" u="sng" dirty="0">
              <a:solidFill>
                <a:srgbClr val="000000"/>
              </a:solidFill>
              <a:latin typeface="High Cruiser"/>
              <a:ea typeface="High Cruiser"/>
              <a:cs typeface="High Cruiser"/>
              <a:sym typeface="High Cruiser"/>
              <a:hlinkClick r:id="rId8" tooltip="https://app.powerbi.com/links/5A926qG-XH?ctid=58227ec7-3bc0-48bb-ad87-42b8957dd8c6&amp;pbi_source=linkShare&amp;portalSessionId=7b69404e-2833-45d3-bb5a-def57827978a&amp;fromEntryPoint=share"/>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D52D2D"/>
        </a:solidFill>
        <a:effectLst/>
      </p:bgPr>
    </p:bg>
    <p:spTree>
      <p:nvGrpSpPr>
        <p:cNvPr id="1" name=""/>
        <p:cNvGrpSpPr/>
        <p:nvPr/>
      </p:nvGrpSpPr>
      <p:grpSpPr>
        <a:xfrm>
          <a:off x="0" y="0"/>
          <a:ext cx="0" cy="0"/>
          <a:chOff x="0" y="0"/>
          <a:chExt cx="0" cy="0"/>
        </a:xfrm>
      </p:grpSpPr>
      <p:grpSp>
        <p:nvGrpSpPr>
          <p:cNvPr id="2" name="Group 2"/>
          <p:cNvGrpSpPr/>
          <p:nvPr/>
        </p:nvGrpSpPr>
        <p:grpSpPr>
          <a:xfrm rot="9976659">
            <a:off x="-5928010" y="1563886"/>
            <a:ext cx="28163977" cy="15983985"/>
            <a:chOff x="0" y="0"/>
            <a:chExt cx="1409000" cy="799654"/>
          </a:xfrm>
        </p:grpSpPr>
        <p:sp>
          <p:nvSpPr>
            <p:cNvPr id="3" name="Freeform 3"/>
            <p:cNvSpPr/>
            <p:nvPr/>
          </p:nvSpPr>
          <p:spPr>
            <a:xfrm>
              <a:off x="0" y="0"/>
              <a:ext cx="1409000" cy="799654"/>
            </a:xfrm>
            <a:custGeom>
              <a:avLst/>
              <a:gdLst/>
              <a:ahLst/>
              <a:cxnLst/>
              <a:rect l="l" t="t" r="r" b="b"/>
              <a:pathLst>
                <a:path w="1409000" h="799654">
                  <a:moveTo>
                    <a:pt x="704500" y="0"/>
                  </a:moveTo>
                  <a:lnTo>
                    <a:pt x="1409000" y="799654"/>
                  </a:lnTo>
                  <a:lnTo>
                    <a:pt x="0" y="799654"/>
                  </a:lnTo>
                  <a:lnTo>
                    <a:pt x="704500" y="0"/>
                  </a:lnTo>
                  <a:close/>
                </a:path>
              </a:pathLst>
            </a:custGeom>
            <a:gradFill rotWithShape="1">
              <a:gsLst>
                <a:gs pos="0">
                  <a:srgbClr val="FFDE59">
                    <a:alpha val="100000"/>
                  </a:srgbClr>
                </a:gs>
                <a:gs pos="100000">
                  <a:srgbClr val="FF914D">
                    <a:alpha val="100000"/>
                  </a:srgbClr>
                </a:gs>
              </a:gsLst>
              <a:lin ang="0"/>
            </a:gradFill>
          </p:spPr>
          <p:txBody>
            <a:bodyPr/>
            <a:lstStyle/>
            <a:p>
              <a:endParaRPr lang="en-US"/>
            </a:p>
          </p:txBody>
        </p:sp>
        <p:sp>
          <p:nvSpPr>
            <p:cNvPr id="4" name="TextBox 4"/>
            <p:cNvSpPr txBox="1"/>
            <p:nvPr/>
          </p:nvSpPr>
          <p:spPr>
            <a:xfrm>
              <a:off x="220156" y="314118"/>
              <a:ext cx="968687" cy="428418"/>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rot="7106552">
            <a:off x="15692846" y="-2926745"/>
            <a:ext cx="3132908" cy="7590746"/>
          </a:xfrm>
          <a:custGeom>
            <a:avLst/>
            <a:gdLst/>
            <a:ahLst/>
            <a:cxnLst/>
            <a:rect l="l" t="t" r="r" b="b"/>
            <a:pathLst>
              <a:path w="3132908" h="7590746">
                <a:moveTo>
                  <a:pt x="0" y="0"/>
                </a:moveTo>
                <a:lnTo>
                  <a:pt x="3132908" y="0"/>
                </a:lnTo>
                <a:lnTo>
                  <a:pt x="3132908" y="7590746"/>
                </a:lnTo>
                <a:lnTo>
                  <a:pt x="0" y="759074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Freeform 6"/>
          <p:cNvSpPr/>
          <p:nvPr/>
        </p:nvSpPr>
        <p:spPr>
          <a:xfrm flipH="1">
            <a:off x="-4296936" y="264874"/>
            <a:ext cx="12560317" cy="11966557"/>
          </a:xfrm>
          <a:custGeom>
            <a:avLst/>
            <a:gdLst/>
            <a:ahLst/>
            <a:cxnLst/>
            <a:rect l="l" t="t" r="r" b="b"/>
            <a:pathLst>
              <a:path w="12560317" h="11966557">
                <a:moveTo>
                  <a:pt x="12560317" y="0"/>
                </a:moveTo>
                <a:lnTo>
                  <a:pt x="0" y="0"/>
                </a:lnTo>
                <a:lnTo>
                  <a:pt x="0" y="11966557"/>
                </a:lnTo>
                <a:lnTo>
                  <a:pt x="12560317" y="11966557"/>
                </a:lnTo>
                <a:lnTo>
                  <a:pt x="12560317"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7" name="TextBox 7"/>
          <p:cNvSpPr txBox="1"/>
          <p:nvPr/>
        </p:nvSpPr>
        <p:spPr>
          <a:xfrm>
            <a:off x="1063684" y="250898"/>
            <a:ext cx="8103087" cy="1111634"/>
          </a:xfrm>
          <a:prstGeom prst="rect">
            <a:avLst/>
          </a:prstGeom>
        </p:spPr>
        <p:txBody>
          <a:bodyPr lIns="0" tIns="0" rIns="0" bIns="0" rtlCol="0" anchor="t">
            <a:spAutoFit/>
          </a:bodyPr>
          <a:lstStyle/>
          <a:p>
            <a:pPr algn="r">
              <a:lnSpc>
                <a:spcPts val="9111"/>
              </a:lnSpc>
              <a:spcBef>
                <a:spcPct val="0"/>
              </a:spcBef>
            </a:pPr>
            <a:r>
              <a:rPr lang="en-US" sz="6508" dirty="0">
                <a:solidFill>
                  <a:srgbClr val="000000"/>
                </a:solidFill>
                <a:latin typeface="High Cruiser"/>
                <a:ea typeface="High Cruiser"/>
                <a:cs typeface="High Cruiser"/>
                <a:sym typeface="High Cruiser"/>
              </a:rPr>
              <a:t>Conclusion</a:t>
            </a:r>
          </a:p>
        </p:txBody>
      </p:sp>
      <p:sp>
        <p:nvSpPr>
          <p:cNvPr id="8" name="TextBox 8"/>
          <p:cNvSpPr txBox="1"/>
          <p:nvPr/>
        </p:nvSpPr>
        <p:spPr>
          <a:xfrm>
            <a:off x="3812765" y="2554818"/>
            <a:ext cx="12669113" cy="3209925"/>
          </a:xfrm>
          <a:prstGeom prst="rect">
            <a:avLst/>
          </a:prstGeom>
        </p:spPr>
        <p:txBody>
          <a:bodyPr lIns="0" tIns="0" rIns="0" bIns="0" rtlCol="0" anchor="t">
            <a:spAutoFit/>
          </a:bodyPr>
          <a:lstStyle/>
          <a:p>
            <a:pPr algn="just">
              <a:lnSpc>
                <a:spcPts val="4200"/>
              </a:lnSpc>
              <a:spcBef>
                <a:spcPct val="0"/>
              </a:spcBef>
            </a:pPr>
            <a:r>
              <a:rPr lang="en-US" sz="3000" dirty="0">
                <a:solidFill>
                  <a:srgbClr val="000000"/>
                </a:solidFill>
                <a:latin typeface="Times New Roman"/>
                <a:ea typeface="Times New Roman"/>
                <a:cs typeface="Times New Roman"/>
                <a:sym typeface="Times New Roman"/>
              </a:rPr>
              <a:t>Movie production increased steadily from 2006–2016, while revenue increased over the decade. Western dominated average runtime, and genres like History, Musical, and Biography earned the highest ratings. Overall, the dashboard highlights clear trends in production, audience preferences, and genre performance across the decade.</a:t>
            </a:r>
          </a:p>
          <a:p>
            <a:pPr algn="just">
              <a:lnSpc>
                <a:spcPts val="4200"/>
              </a:lnSpc>
              <a:spcBef>
                <a:spcPct val="0"/>
              </a:spcBef>
            </a:pPr>
            <a:endParaRPr lang="en-US" sz="3000" dirty="0">
              <a:solidFill>
                <a:srgbClr val="000000"/>
              </a:solidFill>
              <a:latin typeface="Times New Roman"/>
              <a:ea typeface="Times New Roman"/>
              <a:cs typeface="Times New Roman"/>
              <a:sym typeface="Times New Roman"/>
            </a:endParaRPr>
          </a:p>
        </p:txBody>
      </p:sp>
      <p:sp>
        <p:nvSpPr>
          <p:cNvPr id="9" name="Freeform 9"/>
          <p:cNvSpPr/>
          <p:nvPr/>
        </p:nvSpPr>
        <p:spPr>
          <a:xfrm rot="1222511" flipH="1">
            <a:off x="14476342" y="5915970"/>
            <a:ext cx="4011072" cy="3434936"/>
          </a:xfrm>
          <a:custGeom>
            <a:avLst/>
            <a:gdLst/>
            <a:ahLst/>
            <a:cxnLst/>
            <a:rect l="l" t="t" r="r" b="b"/>
            <a:pathLst>
              <a:path w="4011072" h="3434936">
                <a:moveTo>
                  <a:pt x="4011071" y="0"/>
                </a:moveTo>
                <a:lnTo>
                  <a:pt x="0" y="0"/>
                </a:lnTo>
                <a:lnTo>
                  <a:pt x="0" y="3434936"/>
                </a:lnTo>
                <a:lnTo>
                  <a:pt x="4011071" y="3434936"/>
                </a:lnTo>
                <a:lnTo>
                  <a:pt x="4011071"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0" name="Freeform 10"/>
          <p:cNvSpPr/>
          <p:nvPr/>
        </p:nvSpPr>
        <p:spPr>
          <a:xfrm>
            <a:off x="-3057827" y="-2021949"/>
            <a:ext cx="8173055" cy="7786692"/>
          </a:xfrm>
          <a:custGeom>
            <a:avLst/>
            <a:gdLst/>
            <a:ahLst/>
            <a:cxnLst/>
            <a:rect l="l" t="t" r="r" b="b"/>
            <a:pathLst>
              <a:path w="8173055" h="7786692">
                <a:moveTo>
                  <a:pt x="0" y="0"/>
                </a:moveTo>
                <a:lnTo>
                  <a:pt x="8173054" y="0"/>
                </a:lnTo>
                <a:lnTo>
                  <a:pt x="8173054" y="7786692"/>
                </a:lnTo>
                <a:lnTo>
                  <a:pt x="0" y="778669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D52D2D"/>
        </a:solidFill>
        <a:effectLst/>
      </p:bgPr>
    </p:bg>
    <p:spTree>
      <p:nvGrpSpPr>
        <p:cNvPr id="1" name=""/>
        <p:cNvGrpSpPr/>
        <p:nvPr/>
      </p:nvGrpSpPr>
      <p:grpSpPr>
        <a:xfrm>
          <a:off x="0" y="0"/>
          <a:ext cx="0" cy="0"/>
          <a:chOff x="0" y="0"/>
          <a:chExt cx="0" cy="0"/>
        </a:xfrm>
      </p:grpSpPr>
      <p:grpSp>
        <p:nvGrpSpPr>
          <p:cNvPr id="2" name="Group 2"/>
          <p:cNvGrpSpPr/>
          <p:nvPr/>
        </p:nvGrpSpPr>
        <p:grpSpPr>
          <a:xfrm rot="1938277">
            <a:off x="5913621" y="-2415270"/>
            <a:ext cx="18211072" cy="12636778"/>
            <a:chOff x="0" y="0"/>
            <a:chExt cx="1024922" cy="711200"/>
          </a:xfrm>
        </p:grpSpPr>
        <p:sp>
          <p:nvSpPr>
            <p:cNvPr id="3" name="Freeform 3"/>
            <p:cNvSpPr/>
            <p:nvPr/>
          </p:nvSpPr>
          <p:spPr>
            <a:xfrm>
              <a:off x="0" y="0"/>
              <a:ext cx="1024922" cy="711200"/>
            </a:xfrm>
            <a:custGeom>
              <a:avLst/>
              <a:gdLst/>
              <a:ahLst/>
              <a:cxnLst/>
              <a:rect l="l" t="t" r="r" b="b"/>
              <a:pathLst>
                <a:path w="1024922" h="711200">
                  <a:moveTo>
                    <a:pt x="512461" y="0"/>
                  </a:moveTo>
                  <a:lnTo>
                    <a:pt x="1024922" y="711200"/>
                  </a:lnTo>
                  <a:lnTo>
                    <a:pt x="0" y="711200"/>
                  </a:lnTo>
                  <a:lnTo>
                    <a:pt x="512461" y="0"/>
                  </a:lnTo>
                  <a:close/>
                </a:path>
              </a:pathLst>
            </a:custGeom>
            <a:gradFill rotWithShape="1">
              <a:gsLst>
                <a:gs pos="0">
                  <a:srgbClr val="FFDE59">
                    <a:alpha val="100000"/>
                  </a:srgbClr>
                </a:gs>
                <a:gs pos="100000">
                  <a:srgbClr val="FF914D">
                    <a:alpha val="100000"/>
                  </a:srgbClr>
                </a:gs>
              </a:gsLst>
              <a:lin ang="0"/>
            </a:gradFill>
          </p:spPr>
          <p:txBody>
            <a:bodyPr/>
            <a:lstStyle/>
            <a:p>
              <a:endParaRPr lang="en-US"/>
            </a:p>
          </p:txBody>
        </p:sp>
        <p:sp>
          <p:nvSpPr>
            <p:cNvPr id="4" name="TextBox 4"/>
            <p:cNvSpPr txBox="1"/>
            <p:nvPr/>
          </p:nvSpPr>
          <p:spPr>
            <a:xfrm>
              <a:off x="160144" y="273050"/>
              <a:ext cx="704634" cy="38735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2929064" y="1138365"/>
            <a:ext cx="8467795" cy="10851026"/>
            <a:chOff x="0" y="0"/>
            <a:chExt cx="2230201" cy="2857883"/>
          </a:xfrm>
        </p:grpSpPr>
        <p:sp>
          <p:nvSpPr>
            <p:cNvPr id="6" name="Freeform 6"/>
            <p:cNvSpPr/>
            <p:nvPr/>
          </p:nvSpPr>
          <p:spPr>
            <a:xfrm>
              <a:off x="0" y="0"/>
              <a:ext cx="2230201" cy="2857883"/>
            </a:xfrm>
            <a:custGeom>
              <a:avLst/>
              <a:gdLst/>
              <a:ahLst/>
              <a:cxnLst/>
              <a:rect l="l" t="t" r="r" b="b"/>
              <a:pathLst>
                <a:path w="2230201" h="2857883">
                  <a:moveTo>
                    <a:pt x="0" y="0"/>
                  </a:moveTo>
                  <a:lnTo>
                    <a:pt x="2230201" y="0"/>
                  </a:lnTo>
                  <a:lnTo>
                    <a:pt x="2230201" y="2857883"/>
                  </a:lnTo>
                  <a:lnTo>
                    <a:pt x="0" y="2857883"/>
                  </a:lnTo>
                  <a:close/>
                </a:path>
              </a:pathLst>
            </a:custGeom>
            <a:solidFill>
              <a:srgbClr val="D52D2D"/>
            </a:solidFill>
          </p:spPr>
          <p:txBody>
            <a:bodyPr/>
            <a:lstStyle/>
            <a:p>
              <a:endParaRPr lang="en-US"/>
            </a:p>
          </p:txBody>
        </p:sp>
        <p:sp>
          <p:nvSpPr>
            <p:cNvPr id="7" name="TextBox 7"/>
            <p:cNvSpPr txBox="1"/>
            <p:nvPr/>
          </p:nvSpPr>
          <p:spPr>
            <a:xfrm>
              <a:off x="0" y="-57150"/>
              <a:ext cx="2230201" cy="2915033"/>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158061" y="1813313"/>
            <a:ext cx="5696792" cy="10993810"/>
          </a:xfrm>
          <a:custGeom>
            <a:avLst/>
            <a:gdLst/>
            <a:ahLst/>
            <a:cxnLst/>
            <a:rect l="l" t="t" r="r" b="b"/>
            <a:pathLst>
              <a:path w="5696792" h="10993810">
                <a:moveTo>
                  <a:pt x="0" y="0"/>
                </a:moveTo>
                <a:lnTo>
                  <a:pt x="5696792" y="0"/>
                </a:lnTo>
                <a:lnTo>
                  <a:pt x="5696792" y="10993810"/>
                </a:lnTo>
                <a:lnTo>
                  <a:pt x="0" y="1099381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Freeform 9"/>
          <p:cNvSpPr/>
          <p:nvPr/>
        </p:nvSpPr>
        <p:spPr>
          <a:xfrm rot="4206900">
            <a:off x="1259459" y="-3310671"/>
            <a:ext cx="3132908" cy="7590746"/>
          </a:xfrm>
          <a:custGeom>
            <a:avLst/>
            <a:gdLst/>
            <a:ahLst/>
            <a:cxnLst/>
            <a:rect l="l" t="t" r="r" b="b"/>
            <a:pathLst>
              <a:path w="3132908" h="7590746">
                <a:moveTo>
                  <a:pt x="0" y="0"/>
                </a:moveTo>
                <a:lnTo>
                  <a:pt x="3132908" y="0"/>
                </a:lnTo>
                <a:lnTo>
                  <a:pt x="3132908" y="7590746"/>
                </a:lnTo>
                <a:lnTo>
                  <a:pt x="0" y="759074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0" name="Freeform 10"/>
          <p:cNvSpPr/>
          <p:nvPr/>
        </p:nvSpPr>
        <p:spPr>
          <a:xfrm>
            <a:off x="10166498" y="2003468"/>
            <a:ext cx="10837113" cy="10324813"/>
          </a:xfrm>
          <a:custGeom>
            <a:avLst/>
            <a:gdLst/>
            <a:ahLst/>
            <a:cxnLst/>
            <a:rect l="l" t="t" r="r" b="b"/>
            <a:pathLst>
              <a:path w="10837113" h="10324813">
                <a:moveTo>
                  <a:pt x="0" y="0"/>
                </a:moveTo>
                <a:lnTo>
                  <a:pt x="10837113" y="0"/>
                </a:lnTo>
                <a:lnTo>
                  <a:pt x="10837113" y="10324813"/>
                </a:lnTo>
                <a:lnTo>
                  <a:pt x="0" y="1032481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1" name="TextBox 11"/>
          <p:cNvSpPr txBox="1"/>
          <p:nvPr/>
        </p:nvSpPr>
        <p:spPr>
          <a:xfrm>
            <a:off x="8565971" y="2605195"/>
            <a:ext cx="5977098" cy="4350012"/>
          </a:xfrm>
          <a:prstGeom prst="rect">
            <a:avLst/>
          </a:prstGeom>
        </p:spPr>
        <p:txBody>
          <a:bodyPr lIns="0" tIns="0" rIns="0" bIns="0" rtlCol="0" anchor="t">
            <a:spAutoFit/>
          </a:bodyPr>
          <a:lstStyle/>
          <a:p>
            <a:pPr algn="just">
              <a:lnSpc>
                <a:spcPts val="17477"/>
              </a:lnSpc>
            </a:pPr>
            <a:r>
              <a:rPr lang="en-US" sz="12483">
                <a:solidFill>
                  <a:srgbClr val="000000"/>
                </a:solidFill>
                <a:latin typeface="High Cruiser"/>
                <a:ea typeface="High Cruiser"/>
                <a:cs typeface="High Cruiser"/>
                <a:sym typeface="High Cruiser"/>
              </a:rPr>
              <a:t>Thank</a:t>
            </a:r>
          </a:p>
          <a:p>
            <a:pPr algn="just">
              <a:lnSpc>
                <a:spcPts val="17477"/>
              </a:lnSpc>
              <a:spcBef>
                <a:spcPct val="0"/>
              </a:spcBef>
            </a:pPr>
            <a:r>
              <a:rPr lang="en-US" sz="12483">
                <a:solidFill>
                  <a:srgbClr val="000000"/>
                </a:solidFill>
                <a:latin typeface="High Cruiser"/>
                <a:ea typeface="High Cruiser"/>
                <a:cs typeface="High Cruiser"/>
                <a:sym typeface="High Cruiser"/>
              </a:rPr>
              <a:t>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45</TotalTime>
  <Words>335</Words>
  <Application>Microsoft Office PowerPoint</Application>
  <PresentationFormat>Custom</PresentationFormat>
  <Paragraphs>45</Paragraphs>
  <Slides>10</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10</vt:i4>
      </vt:variant>
    </vt:vector>
  </HeadingPairs>
  <TitlesOfParts>
    <vt:vector size="20" baseType="lpstr">
      <vt:lpstr>Times New Roman Bold</vt:lpstr>
      <vt:lpstr>Times New Roman</vt:lpstr>
      <vt:lpstr>High Cruiser</vt:lpstr>
      <vt:lpstr>Poppins</vt:lpstr>
      <vt:lpstr>Calibri</vt:lpstr>
      <vt:lpstr>Glacial Indifference</vt:lpstr>
      <vt:lpstr>Aptos</vt:lpstr>
      <vt:lpstr>Arial</vt:lpstr>
      <vt:lpstr>Handelson Two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Pink and Black Modern Film Presentation</dc:title>
  <cp:lastModifiedBy>Nilkanth Adhav</cp:lastModifiedBy>
  <cp:revision>3</cp:revision>
  <dcterms:created xsi:type="dcterms:W3CDTF">2006-08-16T00:00:00Z</dcterms:created>
  <dcterms:modified xsi:type="dcterms:W3CDTF">2025-12-29T06:37:46Z</dcterms:modified>
  <dc:identifier>DAG8xLL5knA</dc:identifier>
</cp:coreProperties>
</file>